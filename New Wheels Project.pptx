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78" r:id="rId7"/>
    <p:sldId id="261" r:id="rId8"/>
    <p:sldId id="279" r:id="rId9"/>
    <p:sldId id="262" r:id="rId10"/>
    <p:sldId id="263" r:id="rId11"/>
    <p:sldId id="264" r:id="rId12"/>
    <p:sldId id="266" r:id="rId13"/>
    <p:sldId id="267" r:id="rId14"/>
    <p:sldId id="268" r:id="rId15"/>
    <p:sldId id="269" r:id="rId16"/>
    <p:sldId id="280" r:id="rId17"/>
    <p:sldId id="270" r:id="rId18"/>
    <p:sldId id="281" r:id="rId19"/>
    <p:sldId id="271" r:id="rId20"/>
    <p:sldId id="272" r:id="rId21"/>
    <p:sldId id="273" r:id="rId22"/>
    <p:sldId id="274" r:id="rId23"/>
    <p:sldId id="275" r:id="rId24"/>
    <p:sldId id="276" r:id="rId25"/>
    <p:sldId id="282" r:id="rId26"/>
    <p:sldId id="277" r:id="rId27"/>
    <p:sldId id="283"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4"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5876E-4CC3-A0BD-9C05-19C02629A31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985A274-913D-F006-9011-D7D2B227D0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2C90D51-ED85-8F43-1D22-989EFEEA7826}"/>
              </a:ext>
            </a:extLst>
          </p:cNvPr>
          <p:cNvSpPr>
            <a:spLocks noGrp="1"/>
          </p:cNvSpPr>
          <p:nvPr>
            <p:ph type="dt" sz="half" idx="10"/>
          </p:nvPr>
        </p:nvSpPr>
        <p:spPr/>
        <p:txBody>
          <a:bodyPr/>
          <a:lstStyle/>
          <a:p>
            <a:fld id="{48F7495F-69CE-41B8-9CEA-CBF5DA104114}" type="datetimeFigureOut">
              <a:rPr lang="en-US" smtClean="0"/>
              <a:t>1/31/2026</a:t>
            </a:fld>
            <a:endParaRPr lang="en-US"/>
          </a:p>
        </p:txBody>
      </p:sp>
      <p:sp>
        <p:nvSpPr>
          <p:cNvPr id="5" name="Footer Placeholder 4">
            <a:extLst>
              <a:ext uri="{FF2B5EF4-FFF2-40B4-BE49-F238E27FC236}">
                <a16:creationId xmlns:a16="http://schemas.microsoft.com/office/drawing/2014/main" id="{2DF3C9F0-0EE4-8A74-0FBE-E616AC1867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0D304D-4524-66B9-FA53-C20F009B4D2B}"/>
              </a:ext>
            </a:extLst>
          </p:cNvPr>
          <p:cNvSpPr>
            <a:spLocks noGrp="1"/>
          </p:cNvSpPr>
          <p:nvPr>
            <p:ph type="sldNum" sz="quarter" idx="12"/>
          </p:nvPr>
        </p:nvSpPr>
        <p:spPr/>
        <p:txBody>
          <a:bodyPr/>
          <a:lstStyle/>
          <a:p>
            <a:fld id="{73551171-7A67-44C8-9374-895494E6C384}" type="slidenum">
              <a:rPr lang="en-US" smtClean="0"/>
              <a:t>‹#›</a:t>
            </a:fld>
            <a:endParaRPr lang="en-US"/>
          </a:p>
        </p:txBody>
      </p:sp>
    </p:spTree>
    <p:extLst>
      <p:ext uri="{BB962C8B-B14F-4D97-AF65-F5344CB8AC3E}">
        <p14:creationId xmlns:p14="http://schemas.microsoft.com/office/powerpoint/2010/main" val="20092206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877AA-7A14-C445-9E1F-52CE197E17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DCA144-6FCD-7D8D-9DBF-0EC9D8F5867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4B347A-908E-D964-CD89-347782D9BEBF}"/>
              </a:ext>
            </a:extLst>
          </p:cNvPr>
          <p:cNvSpPr>
            <a:spLocks noGrp="1"/>
          </p:cNvSpPr>
          <p:nvPr>
            <p:ph type="dt" sz="half" idx="10"/>
          </p:nvPr>
        </p:nvSpPr>
        <p:spPr/>
        <p:txBody>
          <a:bodyPr/>
          <a:lstStyle/>
          <a:p>
            <a:fld id="{48F7495F-69CE-41B8-9CEA-CBF5DA104114}" type="datetimeFigureOut">
              <a:rPr lang="en-US" smtClean="0"/>
              <a:t>1/31/2026</a:t>
            </a:fld>
            <a:endParaRPr lang="en-US"/>
          </a:p>
        </p:txBody>
      </p:sp>
      <p:sp>
        <p:nvSpPr>
          <p:cNvPr id="5" name="Footer Placeholder 4">
            <a:extLst>
              <a:ext uri="{FF2B5EF4-FFF2-40B4-BE49-F238E27FC236}">
                <a16:creationId xmlns:a16="http://schemas.microsoft.com/office/drawing/2014/main" id="{54395958-46D6-882C-D1E1-A78D582479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486AB4-0E05-91F2-2878-C252FC4F0A45}"/>
              </a:ext>
            </a:extLst>
          </p:cNvPr>
          <p:cNvSpPr>
            <a:spLocks noGrp="1"/>
          </p:cNvSpPr>
          <p:nvPr>
            <p:ph type="sldNum" sz="quarter" idx="12"/>
          </p:nvPr>
        </p:nvSpPr>
        <p:spPr/>
        <p:txBody>
          <a:bodyPr/>
          <a:lstStyle/>
          <a:p>
            <a:fld id="{73551171-7A67-44C8-9374-895494E6C384}" type="slidenum">
              <a:rPr lang="en-US" smtClean="0"/>
              <a:t>‹#›</a:t>
            </a:fld>
            <a:endParaRPr lang="en-US"/>
          </a:p>
        </p:txBody>
      </p:sp>
    </p:spTree>
    <p:extLst>
      <p:ext uri="{BB962C8B-B14F-4D97-AF65-F5344CB8AC3E}">
        <p14:creationId xmlns:p14="http://schemas.microsoft.com/office/powerpoint/2010/main" val="5291050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26628-F535-C0C0-E848-1103F521FD7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79AFD72-C290-D36C-CD57-9DDF0AB2805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0C95708-B21E-28C0-6119-3CFD0458DF6F}"/>
              </a:ext>
            </a:extLst>
          </p:cNvPr>
          <p:cNvSpPr>
            <a:spLocks noGrp="1"/>
          </p:cNvSpPr>
          <p:nvPr>
            <p:ph type="dt" sz="half" idx="10"/>
          </p:nvPr>
        </p:nvSpPr>
        <p:spPr/>
        <p:txBody>
          <a:bodyPr/>
          <a:lstStyle/>
          <a:p>
            <a:fld id="{48F7495F-69CE-41B8-9CEA-CBF5DA104114}" type="datetimeFigureOut">
              <a:rPr lang="en-US" smtClean="0"/>
              <a:t>1/31/2026</a:t>
            </a:fld>
            <a:endParaRPr lang="en-US"/>
          </a:p>
        </p:txBody>
      </p:sp>
      <p:sp>
        <p:nvSpPr>
          <p:cNvPr id="5" name="Footer Placeholder 4">
            <a:extLst>
              <a:ext uri="{FF2B5EF4-FFF2-40B4-BE49-F238E27FC236}">
                <a16:creationId xmlns:a16="http://schemas.microsoft.com/office/drawing/2014/main" id="{057CBBF7-54C6-0001-C2D0-BF3CBEA20F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35A2E8-9045-5DAE-DE16-060BD681E0DD}"/>
              </a:ext>
            </a:extLst>
          </p:cNvPr>
          <p:cNvSpPr>
            <a:spLocks noGrp="1"/>
          </p:cNvSpPr>
          <p:nvPr>
            <p:ph type="sldNum" sz="quarter" idx="12"/>
          </p:nvPr>
        </p:nvSpPr>
        <p:spPr/>
        <p:txBody>
          <a:bodyPr/>
          <a:lstStyle/>
          <a:p>
            <a:fld id="{73551171-7A67-44C8-9374-895494E6C384}" type="slidenum">
              <a:rPr lang="en-US" smtClean="0"/>
              <a:t>‹#›</a:t>
            </a:fld>
            <a:endParaRPr lang="en-US"/>
          </a:p>
        </p:txBody>
      </p:sp>
    </p:spTree>
    <p:extLst>
      <p:ext uri="{BB962C8B-B14F-4D97-AF65-F5344CB8AC3E}">
        <p14:creationId xmlns:p14="http://schemas.microsoft.com/office/powerpoint/2010/main" val="39845932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1CC16-453F-2D4E-2187-3176C6A9031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C8ABA53-B8EE-2547-819A-357D9CF4832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74C476C-F5FE-E3DB-1376-503326ADFA1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4B5A559-F9BB-0D7B-35FD-F8879B0B3801}"/>
              </a:ext>
            </a:extLst>
          </p:cNvPr>
          <p:cNvSpPr>
            <a:spLocks noGrp="1"/>
          </p:cNvSpPr>
          <p:nvPr>
            <p:ph type="dt" sz="half" idx="10"/>
          </p:nvPr>
        </p:nvSpPr>
        <p:spPr/>
        <p:txBody>
          <a:bodyPr/>
          <a:lstStyle/>
          <a:p>
            <a:fld id="{48F7495F-69CE-41B8-9CEA-CBF5DA104114}" type="datetimeFigureOut">
              <a:rPr lang="en-US" smtClean="0"/>
              <a:t>1/31/2026</a:t>
            </a:fld>
            <a:endParaRPr lang="en-US"/>
          </a:p>
        </p:txBody>
      </p:sp>
      <p:sp>
        <p:nvSpPr>
          <p:cNvPr id="6" name="Footer Placeholder 5">
            <a:extLst>
              <a:ext uri="{FF2B5EF4-FFF2-40B4-BE49-F238E27FC236}">
                <a16:creationId xmlns:a16="http://schemas.microsoft.com/office/drawing/2014/main" id="{7E15458B-9FEF-E977-8671-17C080C431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D26437-9F82-5971-B9EF-AFBBB67BDB4F}"/>
              </a:ext>
            </a:extLst>
          </p:cNvPr>
          <p:cNvSpPr>
            <a:spLocks noGrp="1"/>
          </p:cNvSpPr>
          <p:nvPr>
            <p:ph type="sldNum" sz="quarter" idx="12"/>
          </p:nvPr>
        </p:nvSpPr>
        <p:spPr/>
        <p:txBody>
          <a:bodyPr/>
          <a:lstStyle/>
          <a:p>
            <a:fld id="{73551171-7A67-44C8-9374-895494E6C384}" type="slidenum">
              <a:rPr lang="en-US" smtClean="0"/>
              <a:t>‹#›</a:t>
            </a:fld>
            <a:endParaRPr lang="en-US"/>
          </a:p>
        </p:txBody>
      </p:sp>
    </p:spTree>
    <p:extLst>
      <p:ext uri="{BB962C8B-B14F-4D97-AF65-F5344CB8AC3E}">
        <p14:creationId xmlns:p14="http://schemas.microsoft.com/office/powerpoint/2010/main" val="7739867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99A76-77FB-5FA3-4C5C-C958ED90CDC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D6310D2-606B-13AF-38AD-4A2D18B4E2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44FD4F8-15DB-292A-5B8D-B976B139AD1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C724470-3BF9-D0EF-AA07-A5982BA9D8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771EBD4-CA24-674A-2689-6F74D106DA7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4C2EF55-35D4-5920-64AF-F2A49D662D0E}"/>
              </a:ext>
            </a:extLst>
          </p:cNvPr>
          <p:cNvSpPr>
            <a:spLocks noGrp="1"/>
          </p:cNvSpPr>
          <p:nvPr>
            <p:ph type="dt" sz="half" idx="10"/>
          </p:nvPr>
        </p:nvSpPr>
        <p:spPr/>
        <p:txBody>
          <a:bodyPr/>
          <a:lstStyle/>
          <a:p>
            <a:fld id="{48F7495F-69CE-41B8-9CEA-CBF5DA104114}" type="datetimeFigureOut">
              <a:rPr lang="en-US" smtClean="0"/>
              <a:t>1/31/2026</a:t>
            </a:fld>
            <a:endParaRPr lang="en-US"/>
          </a:p>
        </p:txBody>
      </p:sp>
      <p:sp>
        <p:nvSpPr>
          <p:cNvPr id="8" name="Footer Placeholder 7">
            <a:extLst>
              <a:ext uri="{FF2B5EF4-FFF2-40B4-BE49-F238E27FC236}">
                <a16:creationId xmlns:a16="http://schemas.microsoft.com/office/drawing/2014/main" id="{F7A543E2-28A2-8B74-A623-C6615604AE7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73A6248-AA63-945E-6533-8B21F9662FFD}"/>
              </a:ext>
            </a:extLst>
          </p:cNvPr>
          <p:cNvSpPr>
            <a:spLocks noGrp="1"/>
          </p:cNvSpPr>
          <p:nvPr>
            <p:ph type="sldNum" sz="quarter" idx="12"/>
          </p:nvPr>
        </p:nvSpPr>
        <p:spPr/>
        <p:txBody>
          <a:bodyPr/>
          <a:lstStyle/>
          <a:p>
            <a:fld id="{73551171-7A67-44C8-9374-895494E6C384}" type="slidenum">
              <a:rPr lang="en-US" smtClean="0"/>
              <a:t>‹#›</a:t>
            </a:fld>
            <a:endParaRPr lang="en-US"/>
          </a:p>
        </p:txBody>
      </p:sp>
    </p:spTree>
    <p:extLst>
      <p:ext uri="{BB962C8B-B14F-4D97-AF65-F5344CB8AC3E}">
        <p14:creationId xmlns:p14="http://schemas.microsoft.com/office/powerpoint/2010/main" val="11153274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8B5F4-81F6-46DD-5728-F4212EB396B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795D32B-4207-1F9B-1FEF-75A33A2D93A8}"/>
              </a:ext>
            </a:extLst>
          </p:cNvPr>
          <p:cNvSpPr>
            <a:spLocks noGrp="1"/>
          </p:cNvSpPr>
          <p:nvPr>
            <p:ph type="dt" sz="half" idx="10"/>
          </p:nvPr>
        </p:nvSpPr>
        <p:spPr/>
        <p:txBody>
          <a:bodyPr/>
          <a:lstStyle/>
          <a:p>
            <a:fld id="{48F7495F-69CE-41B8-9CEA-CBF5DA104114}" type="datetimeFigureOut">
              <a:rPr lang="en-US" smtClean="0"/>
              <a:t>1/31/2026</a:t>
            </a:fld>
            <a:endParaRPr lang="en-US"/>
          </a:p>
        </p:txBody>
      </p:sp>
      <p:sp>
        <p:nvSpPr>
          <p:cNvPr id="4" name="Footer Placeholder 3">
            <a:extLst>
              <a:ext uri="{FF2B5EF4-FFF2-40B4-BE49-F238E27FC236}">
                <a16:creationId xmlns:a16="http://schemas.microsoft.com/office/drawing/2014/main" id="{8D54CDCD-40E9-D361-BDAF-6B3BF496752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851B7C6-C302-7A33-D3B6-BD2FBDF6039A}"/>
              </a:ext>
            </a:extLst>
          </p:cNvPr>
          <p:cNvSpPr>
            <a:spLocks noGrp="1"/>
          </p:cNvSpPr>
          <p:nvPr>
            <p:ph type="sldNum" sz="quarter" idx="12"/>
          </p:nvPr>
        </p:nvSpPr>
        <p:spPr/>
        <p:txBody>
          <a:bodyPr/>
          <a:lstStyle/>
          <a:p>
            <a:fld id="{73551171-7A67-44C8-9374-895494E6C384}" type="slidenum">
              <a:rPr lang="en-US" smtClean="0"/>
              <a:t>‹#›</a:t>
            </a:fld>
            <a:endParaRPr lang="en-US"/>
          </a:p>
        </p:txBody>
      </p:sp>
    </p:spTree>
    <p:extLst>
      <p:ext uri="{BB962C8B-B14F-4D97-AF65-F5344CB8AC3E}">
        <p14:creationId xmlns:p14="http://schemas.microsoft.com/office/powerpoint/2010/main" val="2160848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8CADA7-4BD6-E32C-564A-65C2A8AF88C4}"/>
              </a:ext>
            </a:extLst>
          </p:cNvPr>
          <p:cNvSpPr>
            <a:spLocks noGrp="1"/>
          </p:cNvSpPr>
          <p:nvPr>
            <p:ph type="dt" sz="half" idx="10"/>
          </p:nvPr>
        </p:nvSpPr>
        <p:spPr/>
        <p:txBody>
          <a:bodyPr/>
          <a:lstStyle/>
          <a:p>
            <a:fld id="{48F7495F-69CE-41B8-9CEA-CBF5DA104114}" type="datetimeFigureOut">
              <a:rPr lang="en-US" smtClean="0"/>
              <a:t>1/31/2026</a:t>
            </a:fld>
            <a:endParaRPr lang="en-US"/>
          </a:p>
        </p:txBody>
      </p:sp>
      <p:sp>
        <p:nvSpPr>
          <p:cNvPr id="3" name="Footer Placeholder 2">
            <a:extLst>
              <a:ext uri="{FF2B5EF4-FFF2-40B4-BE49-F238E27FC236}">
                <a16:creationId xmlns:a16="http://schemas.microsoft.com/office/drawing/2014/main" id="{22EEECA2-BF6F-4C72-C99F-FE171FC6B36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93CCB64-3A7F-D90D-1F23-647B04D3F00F}"/>
              </a:ext>
            </a:extLst>
          </p:cNvPr>
          <p:cNvSpPr>
            <a:spLocks noGrp="1"/>
          </p:cNvSpPr>
          <p:nvPr>
            <p:ph type="sldNum" sz="quarter" idx="12"/>
          </p:nvPr>
        </p:nvSpPr>
        <p:spPr/>
        <p:txBody>
          <a:bodyPr/>
          <a:lstStyle/>
          <a:p>
            <a:fld id="{73551171-7A67-44C8-9374-895494E6C384}" type="slidenum">
              <a:rPr lang="en-US" smtClean="0"/>
              <a:t>‹#›</a:t>
            </a:fld>
            <a:endParaRPr lang="en-US"/>
          </a:p>
        </p:txBody>
      </p:sp>
    </p:spTree>
    <p:extLst>
      <p:ext uri="{BB962C8B-B14F-4D97-AF65-F5344CB8AC3E}">
        <p14:creationId xmlns:p14="http://schemas.microsoft.com/office/powerpoint/2010/main" val="35364633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29F22-7BCF-413A-E226-36E875786D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02A11F0-2903-CFB1-08AF-2A74B9D93B9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0A65637-432C-7B68-B0DB-3F45B1BC9A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DF6652-4799-C56F-285E-0AAE3F29AE5D}"/>
              </a:ext>
            </a:extLst>
          </p:cNvPr>
          <p:cNvSpPr>
            <a:spLocks noGrp="1"/>
          </p:cNvSpPr>
          <p:nvPr>
            <p:ph type="dt" sz="half" idx="10"/>
          </p:nvPr>
        </p:nvSpPr>
        <p:spPr/>
        <p:txBody>
          <a:bodyPr/>
          <a:lstStyle/>
          <a:p>
            <a:fld id="{48F7495F-69CE-41B8-9CEA-CBF5DA104114}" type="datetimeFigureOut">
              <a:rPr lang="en-US" smtClean="0"/>
              <a:t>1/31/2026</a:t>
            </a:fld>
            <a:endParaRPr lang="en-US"/>
          </a:p>
        </p:txBody>
      </p:sp>
      <p:sp>
        <p:nvSpPr>
          <p:cNvPr id="6" name="Footer Placeholder 5">
            <a:extLst>
              <a:ext uri="{FF2B5EF4-FFF2-40B4-BE49-F238E27FC236}">
                <a16:creationId xmlns:a16="http://schemas.microsoft.com/office/drawing/2014/main" id="{3DA7C3D4-4ED3-3728-096B-7E98AD72E4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CFEAAD7-1B33-EC10-314E-7282F15D26E7}"/>
              </a:ext>
            </a:extLst>
          </p:cNvPr>
          <p:cNvSpPr>
            <a:spLocks noGrp="1"/>
          </p:cNvSpPr>
          <p:nvPr>
            <p:ph type="sldNum" sz="quarter" idx="12"/>
          </p:nvPr>
        </p:nvSpPr>
        <p:spPr/>
        <p:txBody>
          <a:bodyPr/>
          <a:lstStyle/>
          <a:p>
            <a:fld id="{73551171-7A67-44C8-9374-895494E6C384}" type="slidenum">
              <a:rPr lang="en-US" smtClean="0"/>
              <a:t>‹#›</a:t>
            </a:fld>
            <a:endParaRPr lang="en-US"/>
          </a:p>
        </p:txBody>
      </p:sp>
    </p:spTree>
    <p:extLst>
      <p:ext uri="{BB962C8B-B14F-4D97-AF65-F5344CB8AC3E}">
        <p14:creationId xmlns:p14="http://schemas.microsoft.com/office/powerpoint/2010/main" val="15643582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71ABD-ADFC-D1F5-E17B-DC5B069C8E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74B8D0D-8511-F1BA-956C-D119C2242A3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77DB2D2-98A7-4631-A165-432E79CB8E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2D836E-6B90-B7F8-42CE-0A8CBC2F14DD}"/>
              </a:ext>
            </a:extLst>
          </p:cNvPr>
          <p:cNvSpPr>
            <a:spLocks noGrp="1"/>
          </p:cNvSpPr>
          <p:nvPr>
            <p:ph type="dt" sz="half" idx="10"/>
          </p:nvPr>
        </p:nvSpPr>
        <p:spPr/>
        <p:txBody>
          <a:bodyPr/>
          <a:lstStyle/>
          <a:p>
            <a:fld id="{48F7495F-69CE-41B8-9CEA-CBF5DA104114}" type="datetimeFigureOut">
              <a:rPr lang="en-US" smtClean="0"/>
              <a:t>1/31/2026</a:t>
            </a:fld>
            <a:endParaRPr lang="en-US"/>
          </a:p>
        </p:txBody>
      </p:sp>
      <p:sp>
        <p:nvSpPr>
          <p:cNvPr id="6" name="Footer Placeholder 5">
            <a:extLst>
              <a:ext uri="{FF2B5EF4-FFF2-40B4-BE49-F238E27FC236}">
                <a16:creationId xmlns:a16="http://schemas.microsoft.com/office/drawing/2014/main" id="{967D75B6-BDE7-3663-C9E9-838F006CB7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0AC27A-BA2D-6E04-6EF3-552B8B711011}"/>
              </a:ext>
            </a:extLst>
          </p:cNvPr>
          <p:cNvSpPr>
            <a:spLocks noGrp="1"/>
          </p:cNvSpPr>
          <p:nvPr>
            <p:ph type="sldNum" sz="quarter" idx="12"/>
          </p:nvPr>
        </p:nvSpPr>
        <p:spPr/>
        <p:txBody>
          <a:bodyPr/>
          <a:lstStyle/>
          <a:p>
            <a:fld id="{73551171-7A67-44C8-9374-895494E6C384}" type="slidenum">
              <a:rPr lang="en-US" smtClean="0"/>
              <a:t>‹#›</a:t>
            </a:fld>
            <a:endParaRPr lang="en-US"/>
          </a:p>
        </p:txBody>
      </p:sp>
    </p:spTree>
    <p:extLst>
      <p:ext uri="{BB962C8B-B14F-4D97-AF65-F5344CB8AC3E}">
        <p14:creationId xmlns:p14="http://schemas.microsoft.com/office/powerpoint/2010/main" val="5665197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2131A-8C73-47BD-406E-7F05D83E446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3ECEC95-0900-A99B-DEFB-B1DBA7AB149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B8299C-0248-94E0-2E7B-0791CD97D65E}"/>
              </a:ext>
            </a:extLst>
          </p:cNvPr>
          <p:cNvSpPr>
            <a:spLocks noGrp="1"/>
          </p:cNvSpPr>
          <p:nvPr>
            <p:ph type="dt" sz="half" idx="10"/>
          </p:nvPr>
        </p:nvSpPr>
        <p:spPr/>
        <p:txBody>
          <a:bodyPr/>
          <a:lstStyle/>
          <a:p>
            <a:fld id="{48F7495F-69CE-41B8-9CEA-CBF5DA104114}" type="datetimeFigureOut">
              <a:rPr lang="en-US" smtClean="0"/>
              <a:t>1/31/2026</a:t>
            </a:fld>
            <a:endParaRPr lang="en-US"/>
          </a:p>
        </p:txBody>
      </p:sp>
      <p:sp>
        <p:nvSpPr>
          <p:cNvPr id="5" name="Footer Placeholder 4">
            <a:extLst>
              <a:ext uri="{FF2B5EF4-FFF2-40B4-BE49-F238E27FC236}">
                <a16:creationId xmlns:a16="http://schemas.microsoft.com/office/drawing/2014/main" id="{C5582C7A-CA4D-5B9E-5AEC-FF4CC9C98A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FD818F-360F-4551-301B-6CA05679529B}"/>
              </a:ext>
            </a:extLst>
          </p:cNvPr>
          <p:cNvSpPr>
            <a:spLocks noGrp="1"/>
          </p:cNvSpPr>
          <p:nvPr>
            <p:ph type="sldNum" sz="quarter" idx="12"/>
          </p:nvPr>
        </p:nvSpPr>
        <p:spPr/>
        <p:txBody>
          <a:bodyPr/>
          <a:lstStyle/>
          <a:p>
            <a:fld id="{73551171-7A67-44C8-9374-895494E6C384}" type="slidenum">
              <a:rPr lang="en-US" smtClean="0"/>
              <a:t>‹#›</a:t>
            </a:fld>
            <a:endParaRPr lang="en-US"/>
          </a:p>
        </p:txBody>
      </p:sp>
    </p:spTree>
    <p:extLst>
      <p:ext uri="{BB962C8B-B14F-4D97-AF65-F5344CB8AC3E}">
        <p14:creationId xmlns:p14="http://schemas.microsoft.com/office/powerpoint/2010/main" val="1793743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58FAE7D-64B3-9DEF-344E-F19C2164304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251C2F5-6E3F-3615-7CB0-D4F79E29EB0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3C6324-77E8-D1C5-63DF-C370C1605129}"/>
              </a:ext>
            </a:extLst>
          </p:cNvPr>
          <p:cNvSpPr>
            <a:spLocks noGrp="1"/>
          </p:cNvSpPr>
          <p:nvPr>
            <p:ph type="dt" sz="half" idx="10"/>
          </p:nvPr>
        </p:nvSpPr>
        <p:spPr/>
        <p:txBody>
          <a:bodyPr/>
          <a:lstStyle/>
          <a:p>
            <a:fld id="{48F7495F-69CE-41B8-9CEA-CBF5DA104114}" type="datetimeFigureOut">
              <a:rPr lang="en-US" smtClean="0"/>
              <a:t>1/31/2026</a:t>
            </a:fld>
            <a:endParaRPr lang="en-US"/>
          </a:p>
        </p:txBody>
      </p:sp>
      <p:sp>
        <p:nvSpPr>
          <p:cNvPr id="5" name="Footer Placeholder 4">
            <a:extLst>
              <a:ext uri="{FF2B5EF4-FFF2-40B4-BE49-F238E27FC236}">
                <a16:creationId xmlns:a16="http://schemas.microsoft.com/office/drawing/2014/main" id="{6E6D46FC-8CE3-2166-7BBE-B90C74C38F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510715-03EA-A5BC-7749-C8188BCD53C8}"/>
              </a:ext>
            </a:extLst>
          </p:cNvPr>
          <p:cNvSpPr>
            <a:spLocks noGrp="1"/>
          </p:cNvSpPr>
          <p:nvPr>
            <p:ph type="sldNum" sz="quarter" idx="12"/>
          </p:nvPr>
        </p:nvSpPr>
        <p:spPr/>
        <p:txBody>
          <a:bodyPr/>
          <a:lstStyle/>
          <a:p>
            <a:fld id="{73551171-7A67-44C8-9374-895494E6C384}" type="slidenum">
              <a:rPr lang="en-US" smtClean="0"/>
              <a:t>‹#›</a:t>
            </a:fld>
            <a:endParaRPr lang="en-US"/>
          </a:p>
        </p:txBody>
      </p:sp>
    </p:spTree>
    <p:extLst>
      <p:ext uri="{BB962C8B-B14F-4D97-AF65-F5344CB8AC3E}">
        <p14:creationId xmlns:p14="http://schemas.microsoft.com/office/powerpoint/2010/main" val="13666974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2B7A35-C167-678B-80D8-20E084E0F2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F16D0F6-BE73-64BF-1A34-C113673194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0FDE0A-E977-8365-1011-F43C1D5CAA8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F7495F-69CE-41B8-9CEA-CBF5DA104114}" type="datetimeFigureOut">
              <a:rPr lang="en-US" smtClean="0"/>
              <a:t>1/31/2026</a:t>
            </a:fld>
            <a:endParaRPr lang="en-US"/>
          </a:p>
        </p:txBody>
      </p:sp>
      <p:sp>
        <p:nvSpPr>
          <p:cNvPr id="5" name="Footer Placeholder 4">
            <a:extLst>
              <a:ext uri="{FF2B5EF4-FFF2-40B4-BE49-F238E27FC236}">
                <a16:creationId xmlns:a16="http://schemas.microsoft.com/office/drawing/2014/main" id="{C8AD8C1E-2488-56B0-A9CB-C814311BF88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A8E7E13-3C67-26FF-8B29-223BCB2C32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551171-7A67-44C8-9374-895494E6C384}" type="slidenum">
              <a:rPr lang="en-US" smtClean="0"/>
              <a:t>‹#›</a:t>
            </a:fld>
            <a:endParaRPr lang="en-US"/>
          </a:p>
        </p:txBody>
      </p:sp>
    </p:spTree>
    <p:extLst>
      <p:ext uri="{BB962C8B-B14F-4D97-AF65-F5344CB8AC3E}">
        <p14:creationId xmlns:p14="http://schemas.microsoft.com/office/powerpoint/2010/main" val="35707012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1818005-E7A5-4407-E8B6-906A2A9866FB}"/>
              </a:ext>
            </a:extLst>
          </p:cNvPr>
          <p:cNvSpPr txBox="1"/>
          <p:nvPr/>
        </p:nvSpPr>
        <p:spPr>
          <a:xfrm>
            <a:off x="1508760" y="2828835"/>
            <a:ext cx="9174480" cy="1200329"/>
          </a:xfrm>
          <a:prstGeom prst="rect">
            <a:avLst/>
          </a:prstGeom>
          <a:noFill/>
        </p:spPr>
        <p:txBody>
          <a:bodyPr wrap="square" rtlCol="0">
            <a:spAutoFit/>
          </a:bodyPr>
          <a:lstStyle/>
          <a:p>
            <a:r>
              <a:rPr lang="en-US" sz="7200" b="1" dirty="0"/>
              <a:t>NEW WHEELS PROJECT </a:t>
            </a:r>
          </a:p>
        </p:txBody>
      </p:sp>
    </p:spTree>
    <p:extLst>
      <p:ext uri="{BB962C8B-B14F-4D97-AF65-F5344CB8AC3E}">
        <p14:creationId xmlns:p14="http://schemas.microsoft.com/office/powerpoint/2010/main" val="1275176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81C6332-7B44-E00D-A4C1-45EF0A57D1E4}"/>
              </a:ext>
            </a:extLst>
          </p:cNvPr>
          <p:cNvSpPr txBox="1"/>
          <p:nvPr/>
        </p:nvSpPr>
        <p:spPr>
          <a:xfrm>
            <a:off x="589281" y="680720"/>
            <a:ext cx="10982960" cy="5386090"/>
          </a:xfrm>
          <a:prstGeom prst="rect">
            <a:avLst/>
          </a:prstGeom>
          <a:noFill/>
        </p:spPr>
        <p:txBody>
          <a:bodyPr wrap="square" rtlCol="0">
            <a:spAutoFit/>
          </a:bodyPr>
          <a:lstStyle/>
          <a:p>
            <a:r>
              <a:rPr lang="en-US" sz="2000" b="1" dirty="0"/>
              <a:t>Context</a:t>
            </a:r>
            <a:endParaRPr lang="en-US" sz="2000" dirty="0"/>
          </a:p>
          <a:p>
            <a:pPr fontAlgn="auto"/>
            <a:r>
              <a:rPr lang="en-US" dirty="0"/>
              <a:t>A lot of people in the world share a common desire: to own a vehicle. A car or an automobile is seen as an object that gives the freedom of mobility. Many now prefer pre-owned vehicles because they come at an affordable cost, but at the same time, they are also concerned about whether the after-sales service provided by the resale vendors is as good as the care you may get from the actual manufacturers. New-Wheels, a vehicle resale company, has launched an app with an end-to-end service from listing the vehicle on the platform to shipping it to the customer's location. This app also captures the overall after-sales feedback given by the customer.</a:t>
            </a:r>
          </a:p>
          <a:p>
            <a:pPr fontAlgn="auto"/>
            <a:endParaRPr lang="en-US" dirty="0"/>
          </a:p>
          <a:p>
            <a:r>
              <a:rPr lang="en-US" sz="2000" b="1" dirty="0"/>
              <a:t>Objective</a:t>
            </a:r>
            <a:endParaRPr lang="en-US" sz="2000" dirty="0"/>
          </a:p>
          <a:p>
            <a:pPr fontAlgn="auto"/>
            <a:r>
              <a:rPr lang="en-US" dirty="0"/>
              <a:t>New-Wheels sales have been dipping steadily in the past year, and due to the critical customer feedback and ratings online, there has been a drop in new customers every quarter, which is concerning to the business. The CEO of the company now wants a quarterly report with all the key metrics sent to him so he can assess the health of the business and make the necessary decisions.</a:t>
            </a:r>
          </a:p>
          <a:p>
            <a:pPr fontAlgn="auto"/>
            <a:r>
              <a:rPr lang="en-US" dirty="0"/>
              <a:t>As a data analyst, you see that there is an array of questions that are being asked at the leadership level that need to be answered using data. Import the dump file that contains various tables that are present in the database. Use the data to answer the questions posed and create a quarterly business report for the CEO.</a:t>
            </a:r>
          </a:p>
          <a:p>
            <a:pPr fontAlgn="auto"/>
            <a:endParaRPr lang="en-US" dirty="0"/>
          </a:p>
          <a:p>
            <a:pPr fontAlgn="auto"/>
            <a:r>
              <a:rPr lang="en-US" dirty="0"/>
              <a:t> </a:t>
            </a:r>
          </a:p>
          <a:p>
            <a:endParaRPr lang="en-US" dirty="0"/>
          </a:p>
        </p:txBody>
      </p:sp>
    </p:spTree>
    <p:extLst>
      <p:ext uri="{BB962C8B-B14F-4D97-AF65-F5344CB8AC3E}">
        <p14:creationId xmlns:p14="http://schemas.microsoft.com/office/powerpoint/2010/main" val="38086610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727218B-1BF7-A17B-FFD7-F2B9F5C72F69}"/>
              </a:ext>
            </a:extLst>
          </p:cNvPr>
          <p:cNvSpPr txBox="1"/>
          <p:nvPr/>
        </p:nvSpPr>
        <p:spPr>
          <a:xfrm>
            <a:off x="629923" y="443567"/>
            <a:ext cx="5567678" cy="5970865"/>
          </a:xfrm>
          <a:prstGeom prst="rect">
            <a:avLst/>
          </a:prstGeom>
          <a:noFill/>
        </p:spPr>
        <p:txBody>
          <a:bodyPr wrap="square" rtlCol="0">
            <a:spAutoFit/>
          </a:bodyPr>
          <a:lstStyle/>
          <a:p>
            <a:r>
              <a:rPr lang="en-US" sz="2000" b="1" dirty="0"/>
              <a:t>New Wheels Data Dictionary</a:t>
            </a:r>
          </a:p>
          <a:p>
            <a:r>
              <a:rPr lang="en-US" sz="2000" b="1" dirty="0"/>
              <a:t> </a:t>
            </a:r>
          </a:p>
          <a:p>
            <a:pPr marL="285750" indent="-285750">
              <a:buFontTx/>
              <a:buChar char="-"/>
            </a:pPr>
            <a:r>
              <a:rPr lang="en-US" dirty="0" err="1"/>
              <a:t>shipper_id</a:t>
            </a:r>
            <a:r>
              <a:rPr lang="en-US" dirty="0"/>
              <a:t>: Unique ID of the Shipper </a:t>
            </a:r>
          </a:p>
          <a:p>
            <a:pPr marL="285750" indent="-285750">
              <a:buFontTx/>
              <a:buChar char="-"/>
            </a:pPr>
            <a:r>
              <a:rPr lang="en-US" dirty="0" err="1"/>
              <a:t>shipper_name</a:t>
            </a:r>
            <a:r>
              <a:rPr lang="en-US" dirty="0"/>
              <a:t>: Name of the Shipper </a:t>
            </a:r>
          </a:p>
          <a:p>
            <a:pPr marL="285750" indent="-285750">
              <a:buFontTx/>
              <a:buChar char="-"/>
            </a:pPr>
            <a:r>
              <a:rPr lang="en-US" dirty="0" err="1"/>
              <a:t>shipper_contact_details</a:t>
            </a:r>
            <a:r>
              <a:rPr lang="en-US" dirty="0"/>
              <a:t>: Contact detail of the Shipper </a:t>
            </a:r>
          </a:p>
          <a:p>
            <a:pPr marL="285750" indent="-285750">
              <a:buFontTx/>
              <a:buChar char="-"/>
            </a:pPr>
            <a:r>
              <a:rPr lang="en-US" dirty="0" err="1"/>
              <a:t>product_id</a:t>
            </a:r>
            <a:r>
              <a:rPr lang="en-US" dirty="0"/>
              <a:t>: Unique ID of the Product </a:t>
            </a:r>
          </a:p>
          <a:p>
            <a:pPr marL="285750" indent="-285750">
              <a:buFontTx/>
              <a:buChar char="-"/>
            </a:pPr>
            <a:r>
              <a:rPr lang="en-US" dirty="0" err="1"/>
              <a:t>vehicle_maker</a:t>
            </a:r>
            <a:r>
              <a:rPr lang="en-US" dirty="0"/>
              <a:t>: Vehicle Manufacturing company name </a:t>
            </a:r>
          </a:p>
          <a:p>
            <a:pPr marL="285750" indent="-285750">
              <a:buFontTx/>
              <a:buChar char="-"/>
            </a:pPr>
            <a:r>
              <a:rPr lang="en-US" dirty="0" err="1"/>
              <a:t>vehicle_model</a:t>
            </a:r>
            <a:r>
              <a:rPr lang="en-US" dirty="0"/>
              <a:t>: Vehicle model name </a:t>
            </a:r>
          </a:p>
          <a:p>
            <a:pPr marL="285750" indent="-285750">
              <a:buFontTx/>
              <a:buChar char="-"/>
            </a:pPr>
            <a:r>
              <a:rPr lang="en-US" dirty="0" err="1"/>
              <a:t>vehicle_color</a:t>
            </a:r>
            <a:r>
              <a:rPr lang="en-US" dirty="0"/>
              <a:t>: Color of the Vehicle </a:t>
            </a:r>
          </a:p>
          <a:p>
            <a:pPr marL="285750" indent="-285750">
              <a:buFontTx/>
              <a:buChar char="-"/>
            </a:pPr>
            <a:r>
              <a:rPr lang="en-US" dirty="0" err="1"/>
              <a:t>vehicle_model_year</a:t>
            </a:r>
            <a:r>
              <a:rPr lang="en-US" dirty="0"/>
              <a:t>: Year of Manufacturing </a:t>
            </a:r>
          </a:p>
          <a:p>
            <a:pPr marL="285750" indent="-285750">
              <a:buFontTx/>
              <a:buChar char="-"/>
            </a:pPr>
            <a:r>
              <a:rPr lang="en-US" dirty="0" err="1"/>
              <a:t>vehicle_price</a:t>
            </a:r>
            <a:r>
              <a:rPr lang="en-US" dirty="0"/>
              <a:t>: Price of the Vehicle </a:t>
            </a:r>
          </a:p>
          <a:p>
            <a:pPr marL="285750" indent="-285750">
              <a:buFontTx/>
              <a:buChar char="-"/>
            </a:pPr>
            <a:r>
              <a:rPr lang="en-US" dirty="0"/>
              <a:t>quantity: Ordered Quantity </a:t>
            </a:r>
          </a:p>
          <a:p>
            <a:pPr marL="285750" indent="-285750">
              <a:buFontTx/>
              <a:buChar char="-"/>
            </a:pPr>
            <a:r>
              <a:rPr lang="en-US" dirty="0" err="1"/>
              <a:t>customer_id</a:t>
            </a:r>
            <a:r>
              <a:rPr lang="en-US" dirty="0"/>
              <a:t>: Unique ID of the customer </a:t>
            </a:r>
          </a:p>
          <a:p>
            <a:pPr marL="285750" indent="-285750">
              <a:buFontTx/>
              <a:buChar char="-"/>
            </a:pPr>
            <a:r>
              <a:rPr lang="en-US" dirty="0" err="1"/>
              <a:t>customer_name</a:t>
            </a:r>
            <a:r>
              <a:rPr lang="en-US" dirty="0"/>
              <a:t>: Name of the customer </a:t>
            </a:r>
          </a:p>
          <a:p>
            <a:pPr marL="285750" indent="-285750">
              <a:buFontTx/>
              <a:buChar char="-"/>
            </a:pPr>
            <a:r>
              <a:rPr lang="en-US" dirty="0"/>
              <a:t>gender: Gender of the customer </a:t>
            </a:r>
          </a:p>
          <a:p>
            <a:pPr marL="285750" indent="-285750">
              <a:buFontTx/>
              <a:buChar char="-"/>
            </a:pPr>
            <a:r>
              <a:rPr lang="en-US" dirty="0" err="1"/>
              <a:t>job_title</a:t>
            </a:r>
            <a:r>
              <a:rPr lang="en-US" dirty="0"/>
              <a:t>: Job Title of the customer </a:t>
            </a:r>
          </a:p>
          <a:p>
            <a:pPr marL="285750" indent="-285750">
              <a:buFontTx/>
              <a:buChar char="-"/>
            </a:pPr>
            <a:r>
              <a:rPr lang="en-US" dirty="0" err="1"/>
              <a:t>phone_number</a:t>
            </a:r>
            <a:r>
              <a:rPr lang="en-US" dirty="0"/>
              <a:t>: Contact detail of the customer </a:t>
            </a:r>
          </a:p>
          <a:p>
            <a:pPr marL="285750" indent="-285750">
              <a:buFontTx/>
              <a:buChar char="-"/>
            </a:pPr>
            <a:r>
              <a:rPr lang="en-US" dirty="0" err="1"/>
              <a:t>email_address</a:t>
            </a:r>
            <a:r>
              <a:rPr lang="en-US" dirty="0"/>
              <a:t>: Email address of the customer </a:t>
            </a:r>
          </a:p>
          <a:p>
            <a:pPr marL="285750" indent="-285750">
              <a:buFontTx/>
              <a:buChar char="-"/>
            </a:pPr>
            <a:r>
              <a:rPr lang="en-US" dirty="0"/>
              <a:t>city: Residing city of the customer </a:t>
            </a:r>
          </a:p>
          <a:p>
            <a:pPr marL="285750" indent="-285750">
              <a:buFontTx/>
              <a:buChar char="-"/>
            </a:pPr>
            <a:r>
              <a:rPr lang="en-US" dirty="0"/>
              <a:t>country: Residing country of the customer </a:t>
            </a:r>
          </a:p>
          <a:p>
            <a:pPr marL="285750" indent="-285750">
              <a:buFontTx/>
              <a:buChar char="-"/>
            </a:pPr>
            <a:r>
              <a:rPr lang="en-US" dirty="0"/>
              <a:t>state: Residing state of the customer </a:t>
            </a:r>
          </a:p>
        </p:txBody>
      </p:sp>
      <p:sp>
        <p:nvSpPr>
          <p:cNvPr id="3" name="TextBox 2">
            <a:extLst>
              <a:ext uri="{FF2B5EF4-FFF2-40B4-BE49-F238E27FC236}">
                <a16:creationId xmlns:a16="http://schemas.microsoft.com/office/drawing/2014/main" id="{A2CF428D-CF65-7248-BB69-129E861EE507}"/>
              </a:ext>
            </a:extLst>
          </p:cNvPr>
          <p:cNvSpPr txBox="1"/>
          <p:nvPr/>
        </p:nvSpPr>
        <p:spPr>
          <a:xfrm>
            <a:off x="6797040" y="711200"/>
            <a:ext cx="4765037" cy="5078313"/>
          </a:xfrm>
          <a:prstGeom prst="rect">
            <a:avLst/>
          </a:prstGeom>
          <a:noFill/>
        </p:spPr>
        <p:txBody>
          <a:bodyPr wrap="square" rtlCol="0">
            <a:spAutoFit/>
          </a:bodyPr>
          <a:lstStyle/>
          <a:p>
            <a:endParaRPr lang="en-US" dirty="0"/>
          </a:p>
          <a:p>
            <a:pPr marL="285750" indent="-285750">
              <a:buFontTx/>
              <a:buChar char="-"/>
            </a:pPr>
            <a:r>
              <a:rPr lang="en-US" dirty="0" err="1"/>
              <a:t>order_date</a:t>
            </a:r>
            <a:r>
              <a:rPr lang="en-US" dirty="0"/>
              <a:t>: Date on which customer ordered the vehicle </a:t>
            </a:r>
          </a:p>
          <a:p>
            <a:pPr marL="285750" indent="-285750">
              <a:buFontTx/>
              <a:buChar char="-"/>
            </a:pPr>
            <a:r>
              <a:rPr lang="en-US" dirty="0" err="1"/>
              <a:t>order_id</a:t>
            </a:r>
            <a:r>
              <a:rPr lang="en-US" dirty="0"/>
              <a:t>: Unique ID of the order </a:t>
            </a:r>
          </a:p>
          <a:p>
            <a:pPr marL="285750" indent="-285750">
              <a:buFontTx/>
              <a:buChar char="-"/>
            </a:pPr>
            <a:r>
              <a:rPr lang="en-US" dirty="0" err="1"/>
              <a:t>ship_date</a:t>
            </a:r>
            <a:r>
              <a:rPr lang="en-US" dirty="0"/>
              <a:t>: Shipment Date </a:t>
            </a:r>
          </a:p>
          <a:p>
            <a:pPr marL="285750" indent="-285750">
              <a:buFontTx/>
              <a:buChar char="-"/>
            </a:pPr>
            <a:r>
              <a:rPr lang="en-US" dirty="0" err="1"/>
              <a:t>ship_mode</a:t>
            </a:r>
            <a:r>
              <a:rPr lang="en-US" dirty="0"/>
              <a:t>: Shipping Mode/Class shipping: Shipping Ways </a:t>
            </a:r>
          </a:p>
          <a:p>
            <a:pPr marL="285750" indent="-285750">
              <a:buFontTx/>
              <a:buChar char="-"/>
            </a:pPr>
            <a:r>
              <a:rPr lang="en-US" dirty="0" err="1"/>
              <a:t>postal_code</a:t>
            </a:r>
            <a:r>
              <a:rPr lang="en-US" dirty="0"/>
              <a:t>: Postal Code of the customer </a:t>
            </a:r>
          </a:p>
          <a:p>
            <a:pPr marL="285750" indent="-285750">
              <a:buFontTx/>
              <a:buChar char="-"/>
            </a:pPr>
            <a:r>
              <a:rPr lang="en-US" dirty="0"/>
              <a:t>discount: Discount given to the customer for the particular order by credit card in percentage </a:t>
            </a:r>
          </a:p>
          <a:p>
            <a:pPr marL="285750" indent="-285750">
              <a:buFontTx/>
              <a:buChar char="-"/>
            </a:pPr>
            <a:r>
              <a:rPr lang="en-US" dirty="0" err="1"/>
              <a:t>credit_card_type</a:t>
            </a:r>
            <a:r>
              <a:rPr lang="en-US" dirty="0"/>
              <a:t>: Credit Card Type </a:t>
            </a:r>
          </a:p>
          <a:p>
            <a:pPr marL="285750" indent="-285750">
              <a:buFontTx/>
              <a:buChar char="-"/>
            </a:pPr>
            <a:r>
              <a:rPr lang="en-US" dirty="0" err="1"/>
              <a:t>credit_card_number</a:t>
            </a:r>
            <a:r>
              <a:rPr lang="en-US" dirty="0"/>
              <a:t>: Credit card number </a:t>
            </a:r>
          </a:p>
          <a:p>
            <a:pPr marL="285750" indent="-285750">
              <a:buFontTx/>
              <a:buChar char="-"/>
            </a:pPr>
            <a:r>
              <a:rPr lang="en-US" dirty="0" err="1"/>
              <a:t>customer_feedback</a:t>
            </a:r>
            <a:r>
              <a:rPr lang="en-US" dirty="0"/>
              <a:t>: Feedback of the customer </a:t>
            </a:r>
          </a:p>
          <a:p>
            <a:pPr marL="285750" indent="-285750">
              <a:buFontTx/>
              <a:buChar char="-"/>
            </a:pPr>
            <a:r>
              <a:rPr lang="en-US" dirty="0" err="1"/>
              <a:t>quarter_number</a:t>
            </a:r>
            <a:r>
              <a:rPr lang="en-US" dirty="0"/>
              <a:t> : Quarter Number</a:t>
            </a:r>
          </a:p>
          <a:p>
            <a:pPr marL="285750" indent="-285750">
              <a:buFontTx/>
              <a:buChar char="-"/>
            </a:pPr>
            <a:r>
              <a:rPr lang="en-US" dirty="0" err="1"/>
              <a:t>customer_address</a:t>
            </a:r>
            <a:r>
              <a:rPr lang="en-US" dirty="0"/>
              <a:t>: Address of the customer</a:t>
            </a:r>
          </a:p>
          <a:p>
            <a:endParaRPr lang="en-US" dirty="0"/>
          </a:p>
        </p:txBody>
      </p:sp>
    </p:spTree>
    <p:extLst>
      <p:ext uri="{BB962C8B-B14F-4D97-AF65-F5344CB8AC3E}">
        <p14:creationId xmlns:p14="http://schemas.microsoft.com/office/powerpoint/2010/main" val="15382576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62C7D2-CC33-8D87-662F-854F279CD1A1}"/>
              </a:ext>
            </a:extLst>
          </p:cNvPr>
          <p:cNvSpPr txBox="1"/>
          <p:nvPr/>
        </p:nvSpPr>
        <p:spPr>
          <a:xfrm>
            <a:off x="614680" y="293148"/>
            <a:ext cx="10962640" cy="3170099"/>
          </a:xfrm>
          <a:prstGeom prst="rect">
            <a:avLst/>
          </a:prstGeom>
          <a:noFill/>
        </p:spPr>
        <p:txBody>
          <a:bodyPr wrap="square" rtlCol="0">
            <a:spAutoFit/>
          </a:bodyPr>
          <a:lstStyle/>
          <a:p>
            <a:r>
              <a:rPr lang="en-US" sz="2000" b="1" dirty="0"/>
              <a:t>Business Question </a:t>
            </a:r>
          </a:p>
          <a:p>
            <a:r>
              <a:rPr lang="en-US" b="1" dirty="0"/>
              <a:t>Question 1</a:t>
            </a:r>
          </a:p>
          <a:p>
            <a:r>
              <a:rPr lang="en-US" dirty="0"/>
              <a:t>Find the total number of customers who have placed orders. What is the distribution of the customers across states?</a:t>
            </a:r>
          </a:p>
          <a:p>
            <a:r>
              <a:rPr lang="en-US" dirty="0"/>
              <a:t>Solution Query – </a:t>
            </a:r>
          </a:p>
          <a:p>
            <a:r>
              <a:rPr lang="en-US" dirty="0"/>
              <a:t>- Total number of customers who placed orders</a:t>
            </a:r>
          </a:p>
          <a:p>
            <a:endParaRPr lang="en-US" dirty="0"/>
          </a:p>
          <a:p>
            <a:r>
              <a:rPr lang="en-US" i="1" dirty="0"/>
              <a:t>SELECT </a:t>
            </a:r>
          </a:p>
          <a:p>
            <a:r>
              <a:rPr lang="en-US" i="1" dirty="0"/>
              <a:t>COUNT(DISTINCT customer_id) AS total_customers</a:t>
            </a:r>
          </a:p>
          <a:p>
            <a:r>
              <a:rPr lang="en-US" i="1" dirty="0"/>
              <a:t>FROM </a:t>
            </a:r>
            <a:r>
              <a:rPr lang="en-US" i="1" dirty="0" err="1"/>
              <a:t>order_t</a:t>
            </a:r>
            <a:r>
              <a:rPr lang="en-US" i="1" dirty="0"/>
              <a:t>;</a:t>
            </a:r>
          </a:p>
          <a:p>
            <a:endParaRPr lang="en-US" dirty="0"/>
          </a:p>
        </p:txBody>
      </p:sp>
      <p:pic>
        <p:nvPicPr>
          <p:cNvPr id="6" name="Picture 5">
            <a:extLst>
              <a:ext uri="{FF2B5EF4-FFF2-40B4-BE49-F238E27FC236}">
                <a16:creationId xmlns:a16="http://schemas.microsoft.com/office/drawing/2014/main" id="{57B2FD70-55A0-A5B5-6ADB-BD1A8AC7F3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178" y="3519114"/>
            <a:ext cx="11069644" cy="3045738"/>
          </a:xfrm>
          <a:prstGeom prst="rect">
            <a:avLst/>
          </a:prstGeom>
        </p:spPr>
      </p:pic>
    </p:spTree>
    <p:extLst>
      <p:ext uri="{BB962C8B-B14F-4D97-AF65-F5344CB8AC3E}">
        <p14:creationId xmlns:p14="http://schemas.microsoft.com/office/powerpoint/2010/main" val="26349076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1D55FE-4993-B9B1-B785-EA19941EB8E1}"/>
              </a:ext>
            </a:extLst>
          </p:cNvPr>
          <p:cNvSpPr txBox="1"/>
          <p:nvPr/>
        </p:nvSpPr>
        <p:spPr>
          <a:xfrm>
            <a:off x="640080" y="416560"/>
            <a:ext cx="10495280" cy="3139321"/>
          </a:xfrm>
          <a:prstGeom prst="rect">
            <a:avLst/>
          </a:prstGeom>
          <a:noFill/>
        </p:spPr>
        <p:txBody>
          <a:bodyPr wrap="square" rtlCol="0">
            <a:spAutoFit/>
          </a:bodyPr>
          <a:lstStyle/>
          <a:p>
            <a:r>
              <a:rPr lang="en-US" dirty="0"/>
              <a:t>Solution Query –  Distribution of customers across states</a:t>
            </a:r>
          </a:p>
          <a:p>
            <a:endParaRPr lang="en-US" dirty="0"/>
          </a:p>
          <a:p>
            <a:r>
              <a:rPr lang="en-US" i="1" dirty="0"/>
              <a:t>SELECT     </a:t>
            </a:r>
          </a:p>
          <a:p>
            <a:r>
              <a:rPr lang="en-US" i="1" dirty="0"/>
              <a:t>      </a:t>
            </a:r>
            <a:r>
              <a:rPr lang="en-US" i="1" dirty="0" err="1"/>
              <a:t>customer_t.state</a:t>
            </a:r>
            <a:r>
              <a:rPr lang="en-US" i="1" dirty="0"/>
              <a:t>,    </a:t>
            </a:r>
          </a:p>
          <a:p>
            <a:r>
              <a:rPr lang="en-US" i="1" dirty="0"/>
              <a:t>     COUNT(DISTINCT </a:t>
            </a:r>
            <a:r>
              <a:rPr lang="en-US" i="1" dirty="0" err="1"/>
              <a:t>order_t.customer_id</a:t>
            </a:r>
            <a:r>
              <a:rPr lang="en-US" i="1" dirty="0"/>
              <a:t>) AS </a:t>
            </a:r>
            <a:r>
              <a:rPr lang="en-US" i="1" dirty="0" err="1"/>
              <a:t>customer_count</a:t>
            </a:r>
            <a:endParaRPr lang="en-US" i="1" dirty="0"/>
          </a:p>
          <a:p>
            <a:r>
              <a:rPr lang="en-US" i="1" dirty="0"/>
              <a:t>FROM order_t</a:t>
            </a:r>
          </a:p>
          <a:p>
            <a:r>
              <a:rPr lang="en-US" i="1" dirty="0"/>
              <a:t>JOIN </a:t>
            </a:r>
            <a:r>
              <a:rPr lang="en-US" i="1" dirty="0" err="1"/>
              <a:t>customer_t</a:t>
            </a:r>
            <a:r>
              <a:rPr lang="en-US" i="1" dirty="0"/>
              <a:t>    </a:t>
            </a:r>
          </a:p>
          <a:p>
            <a:r>
              <a:rPr lang="en-US" i="1" dirty="0"/>
              <a:t>     ON </a:t>
            </a:r>
            <a:r>
              <a:rPr lang="en-US" i="1" dirty="0" err="1"/>
              <a:t>order_t.customer_id</a:t>
            </a:r>
            <a:r>
              <a:rPr lang="en-US" i="1" dirty="0"/>
              <a:t> = </a:t>
            </a:r>
            <a:r>
              <a:rPr lang="en-US" i="1" dirty="0" err="1"/>
              <a:t>customer_t.customer_id</a:t>
            </a:r>
            <a:endParaRPr lang="en-US" i="1" dirty="0"/>
          </a:p>
          <a:p>
            <a:r>
              <a:rPr lang="en-US" i="1" dirty="0"/>
              <a:t>GROUP BY </a:t>
            </a:r>
            <a:r>
              <a:rPr lang="en-US" i="1" dirty="0" err="1"/>
              <a:t>customer_t.state</a:t>
            </a:r>
            <a:endParaRPr lang="en-US" i="1" dirty="0"/>
          </a:p>
          <a:p>
            <a:r>
              <a:rPr lang="en-US" i="1" dirty="0"/>
              <a:t>ORDER BY </a:t>
            </a:r>
            <a:r>
              <a:rPr lang="en-US" i="1" dirty="0" err="1"/>
              <a:t>customer_count</a:t>
            </a:r>
            <a:r>
              <a:rPr lang="en-US" i="1" dirty="0"/>
              <a:t> DESC;</a:t>
            </a:r>
          </a:p>
          <a:p>
            <a:endParaRPr lang="en-US" dirty="0"/>
          </a:p>
        </p:txBody>
      </p:sp>
      <p:pic>
        <p:nvPicPr>
          <p:cNvPr id="4" name="Picture 3">
            <a:extLst>
              <a:ext uri="{FF2B5EF4-FFF2-40B4-BE49-F238E27FC236}">
                <a16:creationId xmlns:a16="http://schemas.microsoft.com/office/drawing/2014/main" id="{8F2354C0-6945-DD23-1053-E6F2F3E9FA9E}"/>
              </a:ext>
            </a:extLst>
          </p:cNvPr>
          <p:cNvPicPr>
            <a:picLocks noChangeAspect="1"/>
          </p:cNvPicPr>
          <p:nvPr/>
        </p:nvPicPr>
        <p:blipFill>
          <a:blip r:embed="rId2"/>
          <a:stretch>
            <a:fillRect/>
          </a:stretch>
        </p:blipFill>
        <p:spPr>
          <a:xfrm>
            <a:off x="848359" y="3356845"/>
            <a:ext cx="10495281" cy="3084595"/>
          </a:xfrm>
          <a:prstGeom prst="rect">
            <a:avLst/>
          </a:prstGeom>
        </p:spPr>
      </p:pic>
    </p:spTree>
    <p:extLst>
      <p:ext uri="{BB962C8B-B14F-4D97-AF65-F5344CB8AC3E}">
        <p14:creationId xmlns:p14="http://schemas.microsoft.com/office/powerpoint/2010/main" val="41831257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FC2134-59B7-81E1-6B5C-F636B79D6721}"/>
              </a:ext>
            </a:extLst>
          </p:cNvPr>
          <p:cNvSpPr txBox="1"/>
          <p:nvPr/>
        </p:nvSpPr>
        <p:spPr>
          <a:xfrm>
            <a:off x="638175" y="647700"/>
            <a:ext cx="9502345" cy="1477328"/>
          </a:xfrm>
          <a:prstGeom prst="rect">
            <a:avLst/>
          </a:prstGeom>
          <a:noFill/>
        </p:spPr>
        <p:txBody>
          <a:bodyPr wrap="none" rtlCol="0">
            <a:spAutoFit/>
          </a:bodyPr>
          <a:lstStyle/>
          <a:p>
            <a:r>
              <a:rPr lang="en-US" b="1" dirty="0"/>
              <a:t>Observations and Insights – </a:t>
            </a:r>
          </a:p>
          <a:p>
            <a:pPr marL="285750" indent="-285750">
              <a:buFontTx/>
              <a:buChar char="-"/>
            </a:pPr>
            <a:r>
              <a:rPr lang="en-US" dirty="0"/>
              <a:t>California and Texas found highest no of customers followed by Florida and New York</a:t>
            </a:r>
          </a:p>
          <a:p>
            <a:pPr marL="285750" indent="-285750">
              <a:buFontTx/>
              <a:buChar char="-"/>
            </a:pPr>
            <a:r>
              <a:rPr lang="en-US" dirty="0"/>
              <a:t>Several states like New Mexico, Montana and Maine found lowest customer count like 5,3 and 1 </a:t>
            </a:r>
          </a:p>
          <a:p>
            <a:pPr marL="285750" indent="-285750">
              <a:buFontTx/>
              <a:buChar char="-"/>
            </a:pPr>
            <a:r>
              <a:rPr lang="en-US" dirty="0"/>
              <a:t>Launch marketing campaigns in states which found to have lowest customer count.</a:t>
            </a:r>
          </a:p>
          <a:p>
            <a:pPr marL="285750" indent="-285750">
              <a:buFontTx/>
              <a:buChar char="-"/>
            </a:pPr>
            <a:r>
              <a:rPr lang="en-US" dirty="0"/>
              <a:t>Strengthen dealership and service network in high performing states to retain leadership</a:t>
            </a:r>
          </a:p>
        </p:txBody>
      </p:sp>
    </p:spTree>
    <p:extLst>
      <p:ext uri="{BB962C8B-B14F-4D97-AF65-F5344CB8AC3E}">
        <p14:creationId xmlns:p14="http://schemas.microsoft.com/office/powerpoint/2010/main" val="35019404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A50593-3B09-F2D4-7119-64A00372C044}"/>
              </a:ext>
            </a:extLst>
          </p:cNvPr>
          <p:cNvSpPr txBox="1"/>
          <p:nvPr/>
        </p:nvSpPr>
        <p:spPr>
          <a:xfrm>
            <a:off x="619760" y="864870"/>
            <a:ext cx="10952480" cy="3693319"/>
          </a:xfrm>
          <a:prstGeom prst="rect">
            <a:avLst/>
          </a:prstGeom>
          <a:noFill/>
        </p:spPr>
        <p:txBody>
          <a:bodyPr wrap="square" rtlCol="0">
            <a:spAutoFit/>
          </a:bodyPr>
          <a:lstStyle/>
          <a:p>
            <a:r>
              <a:rPr lang="en-US" b="1" dirty="0"/>
              <a:t>Question 2</a:t>
            </a:r>
          </a:p>
          <a:p>
            <a:r>
              <a:rPr lang="en-US" dirty="0"/>
              <a:t>Which are the top 5 vehicle makers preferred by the customers?</a:t>
            </a:r>
          </a:p>
          <a:p>
            <a:r>
              <a:rPr lang="en-US" dirty="0"/>
              <a:t>Solution Query – </a:t>
            </a:r>
          </a:p>
          <a:p>
            <a:endParaRPr lang="en-US" dirty="0"/>
          </a:p>
          <a:p>
            <a:r>
              <a:rPr lang="en-US" i="1" dirty="0"/>
              <a:t>SELECT     </a:t>
            </a:r>
          </a:p>
          <a:p>
            <a:r>
              <a:rPr lang="en-US" i="1" dirty="0"/>
              <a:t>    </a:t>
            </a:r>
            <a:r>
              <a:rPr lang="en-US" i="1" dirty="0" err="1"/>
              <a:t>product_t.vehicle_maker</a:t>
            </a:r>
            <a:r>
              <a:rPr lang="en-US" i="1" dirty="0"/>
              <a:t>,    </a:t>
            </a:r>
          </a:p>
          <a:p>
            <a:r>
              <a:rPr lang="en-US" i="1" dirty="0"/>
              <a:t>    COUNT(DISTINCT </a:t>
            </a:r>
            <a:r>
              <a:rPr lang="en-US" i="1" dirty="0" err="1"/>
              <a:t>order_t.customer_id</a:t>
            </a:r>
            <a:r>
              <a:rPr lang="en-US" i="1" dirty="0"/>
              <a:t>) AS </a:t>
            </a:r>
            <a:r>
              <a:rPr lang="en-US" i="1" dirty="0" err="1"/>
              <a:t>customer_count</a:t>
            </a:r>
            <a:endParaRPr lang="en-US" i="1" dirty="0"/>
          </a:p>
          <a:p>
            <a:r>
              <a:rPr lang="en-US" i="1" dirty="0"/>
              <a:t>FROM order_t</a:t>
            </a:r>
          </a:p>
          <a:p>
            <a:r>
              <a:rPr lang="en-US" i="1" dirty="0"/>
              <a:t>JOIN </a:t>
            </a:r>
            <a:r>
              <a:rPr lang="en-US" i="1" dirty="0" err="1"/>
              <a:t>product_t</a:t>
            </a:r>
            <a:r>
              <a:rPr lang="en-US" i="1" dirty="0"/>
              <a:t>    </a:t>
            </a:r>
          </a:p>
          <a:p>
            <a:r>
              <a:rPr lang="en-US" i="1" dirty="0"/>
              <a:t>ON </a:t>
            </a:r>
            <a:r>
              <a:rPr lang="en-US" i="1" dirty="0" err="1"/>
              <a:t>order_t.product_id</a:t>
            </a:r>
            <a:r>
              <a:rPr lang="en-US" i="1" dirty="0"/>
              <a:t> = </a:t>
            </a:r>
            <a:r>
              <a:rPr lang="en-US" i="1" dirty="0" err="1"/>
              <a:t>product_t.product_id</a:t>
            </a:r>
            <a:endParaRPr lang="en-US" i="1" dirty="0"/>
          </a:p>
          <a:p>
            <a:r>
              <a:rPr lang="en-US" i="1" dirty="0"/>
              <a:t>GROUP BY </a:t>
            </a:r>
            <a:r>
              <a:rPr lang="en-US" i="1" dirty="0" err="1"/>
              <a:t>product_t.vehicle_maker</a:t>
            </a:r>
            <a:endParaRPr lang="en-US" i="1" dirty="0"/>
          </a:p>
          <a:p>
            <a:r>
              <a:rPr lang="en-US" i="1" dirty="0"/>
              <a:t>ORDER BY </a:t>
            </a:r>
            <a:r>
              <a:rPr lang="en-US" i="1" dirty="0" err="1"/>
              <a:t>customer_count</a:t>
            </a:r>
            <a:r>
              <a:rPr lang="en-US" i="1" dirty="0"/>
              <a:t> DESC</a:t>
            </a:r>
          </a:p>
          <a:p>
            <a:r>
              <a:rPr lang="en-US" i="1" dirty="0"/>
              <a:t>LIMIT 5;</a:t>
            </a:r>
          </a:p>
        </p:txBody>
      </p:sp>
    </p:spTree>
    <p:extLst>
      <p:ext uri="{BB962C8B-B14F-4D97-AF65-F5344CB8AC3E}">
        <p14:creationId xmlns:p14="http://schemas.microsoft.com/office/powerpoint/2010/main" val="17131531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127F5C-1D97-88A6-9740-64EC3461355E}"/>
              </a:ext>
            </a:extLst>
          </p:cNvPr>
          <p:cNvSpPr txBox="1"/>
          <p:nvPr/>
        </p:nvSpPr>
        <p:spPr>
          <a:xfrm>
            <a:off x="628650" y="342900"/>
            <a:ext cx="6784742" cy="1477328"/>
          </a:xfrm>
          <a:prstGeom prst="rect">
            <a:avLst/>
          </a:prstGeom>
          <a:noFill/>
        </p:spPr>
        <p:txBody>
          <a:bodyPr wrap="none" rtlCol="0">
            <a:spAutoFit/>
          </a:bodyPr>
          <a:lstStyle/>
          <a:p>
            <a:r>
              <a:rPr lang="en-US" b="1" dirty="0"/>
              <a:t>Observations and Insights – </a:t>
            </a:r>
          </a:p>
          <a:p>
            <a:pPr marL="285750" indent="-285750">
              <a:buFontTx/>
              <a:buChar char="-"/>
            </a:pPr>
            <a:r>
              <a:rPr lang="en-US" dirty="0"/>
              <a:t>Chevrolet and Ford  are most preferred brand</a:t>
            </a:r>
          </a:p>
          <a:p>
            <a:pPr marL="285750" indent="-285750">
              <a:buFontTx/>
              <a:buChar char="-"/>
            </a:pPr>
            <a:r>
              <a:rPr lang="en-US" dirty="0"/>
              <a:t>Demand for dodge and Pontiac is low</a:t>
            </a:r>
          </a:p>
          <a:p>
            <a:pPr marL="285750" indent="-285750">
              <a:buFontTx/>
              <a:buChar char="-"/>
            </a:pPr>
            <a:r>
              <a:rPr lang="en-US" dirty="0"/>
              <a:t>Maintain higher inventory for Chevrolet and ford to avoid stockouts</a:t>
            </a:r>
          </a:p>
          <a:p>
            <a:pPr marL="285750" indent="-285750">
              <a:buFontTx/>
              <a:buChar char="-"/>
            </a:pPr>
            <a:r>
              <a:rPr lang="en-US" dirty="0"/>
              <a:t>Run promotional offers for low selling brands to balance portfolio</a:t>
            </a:r>
          </a:p>
        </p:txBody>
      </p:sp>
      <p:pic>
        <p:nvPicPr>
          <p:cNvPr id="3" name="Picture 2">
            <a:extLst>
              <a:ext uri="{FF2B5EF4-FFF2-40B4-BE49-F238E27FC236}">
                <a16:creationId xmlns:a16="http://schemas.microsoft.com/office/drawing/2014/main" id="{048F4119-A9E5-149E-F6E3-42BA8E8BCE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7953" y="2714626"/>
            <a:ext cx="11436094" cy="3390900"/>
          </a:xfrm>
          <a:prstGeom prst="rect">
            <a:avLst/>
          </a:prstGeom>
        </p:spPr>
      </p:pic>
    </p:spTree>
    <p:extLst>
      <p:ext uri="{BB962C8B-B14F-4D97-AF65-F5344CB8AC3E}">
        <p14:creationId xmlns:p14="http://schemas.microsoft.com/office/powerpoint/2010/main" val="36988753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391F3DA-7E99-0EB7-C5E9-7E62F3066CF0}"/>
              </a:ext>
            </a:extLst>
          </p:cNvPr>
          <p:cNvSpPr txBox="1"/>
          <p:nvPr/>
        </p:nvSpPr>
        <p:spPr>
          <a:xfrm>
            <a:off x="599440" y="640080"/>
            <a:ext cx="10993120" cy="3970318"/>
          </a:xfrm>
          <a:prstGeom prst="rect">
            <a:avLst/>
          </a:prstGeom>
          <a:noFill/>
        </p:spPr>
        <p:txBody>
          <a:bodyPr wrap="square" rtlCol="0">
            <a:spAutoFit/>
          </a:bodyPr>
          <a:lstStyle/>
          <a:p>
            <a:r>
              <a:rPr lang="en-US" b="1" dirty="0"/>
              <a:t>Question 3</a:t>
            </a:r>
          </a:p>
          <a:p>
            <a:r>
              <a:rPr lang="en-US" dirty="0"/>
              <a:t>Which is the most preferred vehicle maker in each state?</a:t>
            </a:r>
          </a:p>
          <a:p>
            <a:r>
              <a:rPr lang="en-US" dirty="0"/>
              <a:t>Solution Query – </a:t>
            </a:r>
          </a:p>
          <a:p>
            <a:endParaRPr lang="en-US" dirty="0"/>
          </a:p>
          <a:p>
            <a:r>
              <a:rPr lang="en-US" i="1" dirty="0"/>
              <a:t>SELECT     </a:t>
            </a:r>
          </a:p>
          <a:p>
            <a:r>
              <a:rPr lang="en-US" i="1" dirty="0"/>
              <a:t>    </a:t>
            </a:r>
            <a:r>
              <a:rPr lang="en-US" i="1" dirty="0" err="1"/>
              <a:t>customer_t.state</a:t>
            </a:r>
            <a:r>
              <a:rPr lang="en-US" i="1" dirty="0"/>
              <a:t>,    </a:t>
            </a:r>
          </a:p>
          <a:p>
            <a:r>
              <a:rPr lang="en-US" i="1" dirty="0"/>
              <a:t>    </a:t>
            </a:r>
            <a:r>
              <a:rPr lang="en-US" i="1" dirty="0" err="1"/>
              <a:t>product_t.vehicle_maker</a:t>
            </a:r>
            <a:r>
              <a:rPr lang="en-US" i="1" dirty="0"/>
              <a:t>,    </a:t>
            </a:r>
          </a:p>
          <a:p>
            <a:r>
              <a:rPr lang="en-US" i="1" dirty="0"/>
              <a:t>    COUNT(DISTINCT </a:t>
            </a:r>
            <a:r>
              <a:rPr lang="en-US" i="1" dirty="0" err="1"/>
              <a:t>order_t.customer_id</a:t>
            </a:r>
            <a:r>
              <a:rPr lang="en-US" i="1" dirty="0"/>
              <a:t>) AS </a:t>
            </a:r>
            <a:r>
              <a:rPr lang="en-US" i="1" dirty="0" err="1"/>
              <a:t>customer_count</a:t>
            </a:r>
            <a:endParaRPr lang="en-US" i="1" dirty="0"/>
          </a:p>
          <a:p>
            <a:r>
              <a:rPr lang="en-US" i="1" dirty="0"/>
              <a:t>FROM order_t</a:t>
            </a:r>
          </a:p>
          <a:p>
            <a:r>
              <a:rPr lang="en-US" i="1" dirty="0"/>
              <a:t>JOIN </a:t>
            </a:r>
            <a:r>
              <a:rPr lang="en-US" i="1" dirty="0" err="1"/>
              <a:t>customer_t</a:t>
            </a:r>
            <a:r>
              <a:rPr lang="en-US" i="1" dirty="0"/>
              <a:t>     </a:t>
            </a:r>
          </a:p>
          <a:p>
            <a:r>
              <a:rPr lang="en-US" i="1" dirty="0"/>
              <a:t>    ON </a:t>
            </a:r>
            <a:r>
              <a:rPr lang="en-US" i="1" dirty="0" err="1"/>
              <a:t>order_t.customer_id</a:t>
            </a:r>
            <a:r>
              <a:rPr lang="en-US" i="1" dirty="0"/>
              <a:t> = </a:t>
            </a:r>
            <a:r>
              <a:rPr lang="en-US" i="1" dirty="0" err="1"/>
              <a:t>customer_t.customer_id</a:t>
            </a:r>
            <a:endParaRPr lang="en-US" i="1" dirty="0"/>
          </a:p>
          <a:p>
            <a:r>
              <a:rPr lang="en-US" i="1" dirty="0"/>
              <a:t>JOIN </a:t>
            </a:r>
            <a:r>
              <a:rPr lang="en-US" i="1" dirty="0" err="1"/>
              <a:t>product_t</a:t>
            </a:r>
            <a:r>
              <a:rPr lang="en-US" i="1" dirty="0"/>
              <a:t>    </a:t>
            </a:r>
          </a:p>
          <a:p>
            <a:r>
              <a:rPr lang="en-US" i="1" dirty="0"/>
              <a:t>    ON </a:t>
            </a:r>
            <a:r>
              <a:rPr lang="en-US" i="1" dirty="0" err="1"/>
              <a:t>order_t.product_id</a:t>
            </a:r>
            <a:r>
              <a:rPr lang="en-US" i="1" dirty="0"/>
              <a:t> = </a:t>
            </a:r>
            <a:r>
              <a:rPr lang="en-US" i="1" dirty="0" err="1"/>
              <a:t>product_t.product_id</a:t>
            </a:r>
            <a:endParaRPr lang="en-US" i="1" dirty="0"/>
          </a:p>
          <a:p>
            <a:r>
              <a:rPr lang="en-US" i="1" dirty="0"/>
              <a:t>GROUP BY </a:t>
            </a:r>
            <a:r>
              <a:rPr lang="en-US" i="1" dirty="0" err="1"/>
              <a:t>customer_t.state</a:t>
            </a:r>
            <a:r>
              <a:rPr lang="en-US" i="1" dirty="0"/>
              <a:t>, </a:t>
            </a:r>
            <a:r>
              <a:rPr lang="en-US" i="1" dirty="0" err="1"/>
              <a:t>product_t.vehicle_maker</a:t>
            </a:r>
            <a:r>
              <a:rPr lang="en-US" i="1" dirty="0"/>
              <a:t>;</a:t>
            </a:r>
          </a:p>
        </p:txBody>
      </p:sp>
    </p:spTree>
    <p:extLst>
      <p:ext uri="{BB962C8B-B14F-4D97-AF65-F5344CB8AC3E}">
        <p14:creationId xmlns:p14="http://schemas.microsoft.com/office/powerpoint/2010/main" val="38894531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87850B3-9410-8BA5-5F25-4B0CEE5832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9944" y="2868060"/>
            <a:ext cx="11392112" cy="3342240"/>
          </a:xfrm>
          <a:prstGeom prst="rect">
            <a:avLst/>
          </a:prstGeom>
        </p:spPr>
      </p:pic>
      <p:sp>
        <p:nvSpPr>
          <p:cNvPr id="4" name="TextBox 3">
            <a:extLst>
              <a:ext uri="{FF2B5EF4-FFF2-40B4-BE49-F238E27FC236}">
                <a16:creationId xmlns:a16="http://schemas.microsoft.com/office/drawing/2014/main" id="{09C53B88-8C13-1AF2-2C0A-E4B53291F44D}"/>
              </a:ext>
            </a:extLst>
          </p:cNvPr>
          <p:cNvSpPr txBox="1"/>
          <p:nvPr/>
        </p:nvSpPr>
        <p:spPr>
          <a:xfrm>
            <a:off x="571499" y="647700"/>
            <a:ext cx="10982325" cy="1477328"/>
          </a:xfrm>
          <a:prstGeom prst="rect">
            <a:avLst/>
          </a:prstGeom>
          <a:noFill/>
        </p:spPr>
        <p:txBody>
          <a:bodyPr wrap="square" rtlCol="0">
            <a:spAutoFit/>
          </a:bodyPr>
          <a:lstStyle/>
          <a:p>
            <a:r>
              <a:rPr lang="en-US" b="1" dirty="0"/>
              <a:t>Observations and Insights – </a:t>
            </a:r>
          </a:p>
          <a:p>
            <a:pPr marL="285750" indent="-285750">
              <a:buFontTx/>
              <a:buChar char="-"/>
            </a:pPr>
            <a:r>
              <a:rPr lang="en-US" dirty="0"/>
              <a:t>Customer preference varies significantly by state</a:t>
            </a:r>
          </a:p>
          <a:p>
            <a:pPr marL="285750" indent="-285750">
              <a:buFontTx/>
              <a:buChar char="-"/>
            </a:pPr>
            <a:r>
              <a:rPr lang="en-US" dirty="0"/>
              <a:t>No single maker dominates all regions</a:t>
            </a:r>
          </a:p>
          <a:p>
            <a:pPr marL="285750" indent="-285750">
              <a:buFontTx/>
              <a:buChar char="-"/>
            </a:pPr>
            <a:r>
              <a:rPr lang="en-US" dirty="0"/>
              <a:t>Local culture and service availability influence brand choice</a:t>
            </a:r>
          </a:p>
          <a:p>
            <a:pPr marL="285750" indent="-285750">
              <a:buFontTx/>
              <a:buChar char="-"/>
            </a:pPr>
            <a:r>
              <a:rPr lang="en-US" dirty="0"/>
              <a:t>Partner with local service provider to dominate in each state.</a:t>
            </a:r>
          </a:p>
        </p:txBody>
      </p:sp>
    </p:spTree>
    <p:extLst>
      <p:ext uri="{BB962C8B-B14F-4D97-AF65-F5344CB8AC3E}">
        <p14:creationId xmlns:p14="http://schemas.microsoft.com/office/powerpoint/2010/main" val="27626002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FD1FE9-377F-56AE-9499-33FE3D35FCB7}"/>
              </a:ext>
            </a:extLst>
          </p:cNvPr>
          <p:cNvSpPr txBox="1"/>
          <p:nvPr/>
        </p:nvSpPr>
        <p:spPr>
          <a:xfrm>
            <a:off x="619760" y="426720"/>
            <a:ext cx="10972800" cy="4524315"/>
          </a:xfrm>
          <a:prstGeom prst="rect">
            <a:avLst/>
          </a:prstGeom>
          <a:noFill/>
        </p:spPr>
        <p:txBody>
          <a:bodyPr wrap="square" rtlCol="0">
            <a:spAutoFit/>
          </a:bodyPr>
          <a:lstStyle/>
          <a:p>
            <a:r>
              <a:rPr lang="en-US" b="1" dirty="0"/>
              <a:t>Question 4</a:t>
            </a:r>
          </a:p>
          <a:p>
            <a:r>
              <a:rPr lang="en-US" dirty="0"/>
              <a:t>Find the overall average rating given by the customers. What is the average rating in each quarter?</a:t>
            </a:r>
          </a:p>
          <a:p>
            <a:r>
              <a:rPr lang="en-US" dirty="0"/>
              <a:t>Solution Query – </a:t>
            </a:r>
          </a:p>
          <a:p>
            <a:endParaRPr lang="en-US" i="1" dirty="0"/>
          </a:p>
          <a:p>
            <a:r>
              <a:rPr lang="en-US" i="1" dirty="0"/>
              <a:t>SELECT </a:t>
            </a:r>
          </a:p>
          <a:p>
            <a:r>
              <a:rPr lang="en-US" i="1" dirty="0"/>
              <a:t>AVG(</a:t>
            </a:r>
          </a:p>
          <a:p>
            <a:r>
              <a:rPr lang="en-US" i="1" dirty="0"/>
              <a:t>    CASE </a:t>
            </a:r>
            <a:r>
              <a:rPr lang="en-US" i="1" dirty="0" err="1"/>
              <a:t>customer_feedback</a:t>
            </a:r>
            <a:endParaRPr lang="en-US" i="1" dirty="0"/>
          </a:p>
          <a:p>
            <a:r>
              <a:rPr lang="en-US" i="1" dirty="0"/>
              <a:t>        WHEN 'Very Bad' THEN 1</a:t>
            </a:r>
          </a:p>
          <a:p>
            <a:r>
              <a:rPr lang="en-US" i="1" dirty="0"/>
              <a:t>        WHEN 'Bad' THEN 2</a:t>
            </a:r>
          </a:p>
          <a:p>
            <a:r>
              <a:rPr lang="en-US" i="1" dirty="0"/>
              <a:t>        WHEN 'Okay' THEN 3</a:t>
            </a:r>
          </a:p>
          <a:p>
            <a:r>
              <a:rPr lang="en-US" i="1" dirty="0"/>
              <a:t>        WHEN 'Good' THEN 4</a:t>
            </a:r>
          </a:p>
          <a:p>
            <a:r>
              <a:rPr lang="en-US" i="1" dirty="0"/>
              <a:t>        WHEN 'Very Good' THEN 5</a:t>
            </a:r>
          </a:p>
          <a:p>
            <a:r>
              <a:rPr lang="en-US" i="1" dirty="0"/>
              <a:t>    END</a:t>
            </a:r>
          </a:p>
          <a:p>
            <a:r>
              <a:rPr lang="en-US" i="1" dirty="0"/>
              <a:t>) AS </a:t>
            </a:r>
            <a:r>
              <a:rPr lang="en-US" i="1" dirty="0" err="1"/>
              <a:t>overall_avg_rating</a:t>
            </a:r>
            <a:endParaRPr lang="en-US" i="1" dirty="0"/>
          </a:p>
          <a:p>
            <a:r>
              <a:rPr lang="en-US" i="1" dirty="0"/>
              <a:t>FROM order_t;</a:t>
            </a:r>
          </a:p>
          <a:p>
            <a:endParaRPr lang="en-US" dirty="0"/>
          </a:p>
        </p:txBody>
      </p:sp>
      <p:pic>
        <p:nvPicPr>
          <p:cNvPr id="3" name="Picture 2">
            <a:extLst>
              <a:ext uri="{FF2B5EF4-FFF2-40B4-BE49-F238E27FC236}">
                <a16:creationId xmlns:a16="http://schemas.microsoft.com/office/drawing/2014/main" id="{6094F1B9-C0C3-4842-FED7-BFD3DDA078F8}"/>
              </a:ext>
            </a:extLst>
          </p:cNvPr>
          <p:cNvPicPr>
            <a:picLocks noChangeAspect="1"/>
          </p:cNvPicPr>
          <p:nvPr/>
        </p:nvPicPr>
        <p:blipFill>
          <a:blip r:embed="rId2"/>
          <a:stretch>
            <a:fillRect/>
          </a:stretch>
        </p:blipFill>
        <p:spPr>
          <a:xfrm>
            <a:off x="3606799" y="4079988"/>
            <a:ext cx="8286289" cy="2465592"/>
          </a:xfrm>
          <a:prstGeom prst="rect">
            <a:avLst/>
          </a:prstGeom>
        </p:spPr>
      </p:pic>
    </p:spTree>
    <p:extLst>
      <p:ext uri="{BB962C8B-B14F-4D97-AF65-F5344CB8AC3E}">
        <p14:creationId xmlns:p14="http://schemas.microsoft.com/office/powerpoint/2010/main" val="36985339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138C30C-2CD7-07FC-8AE8-B54CA744B462}"/>
              </a:ext>
            </a:extLst>
          </p:cNvPr>
          <p:cNvSpPr txBox="1"/>
          <p:nvPr/>
        </p:nvSpPr>
        <p:spPr>
          <a:xfrm>
            <a:off x="619760" y="426720"/>
            <a:ext cx="11033760" cy="6463308"/>
          </a:xfrm>
          <a:prstGeom prst="rect">
            <a:avLst/>
          </a:prstGeom>
          <a:noFill/>
        </p:spPr>
        <p:txBody>
          <a:bodyPr wrap="square" rtlCol="0">
            <a:spAutoFit/>
          </a:bodyPr>
          <a:lstStyle/>
          <a:p>
            <a:r>
              <a:rPr lang="en-US" dirty="0"/>
              <a:t>Solution Query – </a:t>
            </a:r>
          </a:p>
          <a:p>
            <a:r>
              <a:rPr lang="en-US" i="1" dirty="0"/>
              <a:t>SELECT </a:t>
            </a:r>
          </a:p>
          <a:p>
            <a:r>
              <a:rPr lang="en-US" i="1" dirty="0"/>
              <a:t>    </a:t>
            </a:r>
            <a:r>
              <a:rPr lang="en-US" i="1" dirty="0" err="1"/>
              <a:t>quarter_number</a:t>
            </a:r>
            <a:r>
              <a:rPr lang="en-US" i="1" dirty="0"/>
              <a:t>,</a:t>
            </a:r>
          </a:p>
          <a:p>
            <a:r>
              <a:rPr lang="en-US" i="1" dirty="0"/>
              <a:t>    AVG(</a:t>
            </a:r>
            <a:r>
              <a:rPr lang="en-US" i="1" dirty="0" err="1"/>
              <a:t>rating_value</a:t>
            </a:r>
            <a:r>
              <a:rPr lang="en-US" i="1" dirty="0"/>
              <a:t>) AS </a:t>
            </a:r>
            <a:r>
              <a:rPr lang="en-US" i="1" dirty="0" err="1"/>
              <a:t>avg_rating</a:t>
            </a:r>
            <a:endParaRPr lang="en-US" i="1" dirty="0"/>
          </a:p>
          <a:p>
            <a:r>
              <a:rPr lang="en-US" i="1" dirty="0"/>
              <a:t>FROM</a:t>
            </a:r>
          </a:p>
          <a:p>
            <a:r>
              <a:rPr lang="en-US" i="1" dirty="0"/>
              <a:t>(</a:t>
            </a:r>
          </a:p>
          <a:p>
            <a:r>
              <a:rPr lang="en-US" i="1" dirty="0"/>
              <a:t>    SELECT </a:t>
            </a:r>
          </a:p>
          <a:p>
            <a:r>
              <a:rPr lang="en-US" i="1" dirty="0"/>
              <a:t>        </a:t>
            </a:r>
            <a:r>
              <a:rPr lang="en-US" i="1" dirty="0" err="1"/>
              <a:t>quarter_number</a:t>
            </a:r>
            <a:r>
              <a:rPr lang="en-US" i="1" dirty="0"/>
              <a:t>,</a:t>
            </a:r>
          </a:p>
          <a:p>
            <a:endParaRPr lang="en-US" i="1" dirty="0"/>
          </a:p>
          <a:p>
            <a:r>
              <a:rPr lang="en-US" i="1" dirty="0"/>
              <a:t>        CASE </a:t>
            </a:r>
            <a:r>
              <a:rPr lang="en-US" i="1" dirty="0" err="1"/>
              <a:t>customer_feedback</a:t>
            </a:r>
            <a:endParaRPr lang="en-US" i="1" dirty="0"/>
          </a:p>
          <a:p>
            <a:r>
              <a:rPr lang="en-US" i="1" dirty="0"/>
              <a:t>            WHEN 'Very Bad' THEN 1</a:t>
            </a:r>
          </a:p>
          <a:p>
            <a:r>
              <a:rPr lang="en-US" i="1" dirty="0"/>
              <a:t>            WHEN 'Bad' THEN 2</a:t>
            </a:r>
          </a:p>
          <a:p>
            <a:r>
              <a:rPr lang="en-US" i="1" dirty="0"/>
              <a:t>            WHEN 'Okay' THEN 3</a:t>
            </a:r>
          </a:p>
          <a:p>
            <a:r>
              <a:rPr lang="en-US" i="1" dirty="0"/>
              <a:t>            WHEN 'Good' THEN 4</a:t>
            </a:r>
          </a:p>
          <a:p>
            <a:r>
              <a:rPr lang="en-US" i="1" dirty="0"/>
              <a:t>            WHEN 'Very Good' THEN 5</a:t>
            </a:r>
          </a:p>
          <a:p>
            <a:r>
              <a:rPr lang="en-US" i="1" dirty="0"/>
              <a:t>        END AS </a:t>
            </a:r>
            <a:r>
              <a:rPr lang="en-US" i="1" dirty="0" err="1"/>
              <a:t>rating_value</a:t>
            </a:r>
            <a:endParaRPr lang="en-US" i="1" dirty="0"/>
          </a:p>
          <a:p>
            <a:endParaRPr lang="en-US" i="1" dirty="0"/>
          </a:p>
          <a:p>
            <a:r>
              <a:rPr lang="en-US" i="1" dirty="0"/>
              <a:t>    FROM order_t</a:t>
            </a:r>
          </a:p>
          <a:p>
            <a:r>
              <a:rPr lang="en-US" i="1" dirty="0"/>
              <a:t>) AS </a:t>
            </a:r>
            <a:r>
              <a:rPr lang="en-US" i="1" dirty="0" err="1"/>
              <a:t>feedback_table</a:t>
            </a:r>
            <a:endParaRPr lang="en-US" i="1" dirty="0"/>
          </a:p>
          <a:p>
            <a:endParaRPr lang="en-US" i="1" dirty="0"/>
          </a:p>
          <a:p>
            <a:r>
              <a:rPr lang="en-US" i="1" dirty="0"/>
              <a:t>GROUP BY </a:t>
            </a:r>
            <a:r>
              <a:rPr lang="en-US" i="1" dirty="0" err="1"/>
              <a:t>quarter_number</a:t>
            </a:r>
            <a:endParaRPr lang="en-US" i="1" dirty="0"/>
          </a:p>
          <a:p>
            <a:r>
              <a:rPr lang="en-US" i="1" dirty="0"/>
              <a:t>ORDER BY </a:t>
            </a:r>
            <a:r>
              <a:rPr lang="en-US" i="1" dirty="0" err="1"/>
              <a:t>quarter_number</a:t>
            </a:r>
            <a:r>
              <a:rPr lang="en-US" i="1" dirty="0"/>
              <a:t>;</a:t>
            </a:r>
          </a:p>
          <a:p>
            <a:endParaRPr lang="en-US" dirty="0"/>
          </a:p>
        </p:txBody>
      </p:sp>
    </p:spTree>
    <p:extLst>
      <p:ext uri="{BB962C8B-B14F-4D97-AF65-F5344CB8AC3E}">
        <p14:creationId xmlns:p14="http://schemas.microsoft.com/office/powerpoint/2010/main" val="11307772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ACCFC41-4E24-C7E7-9F2B-26454748B926}"/>
              </a:ext>
            </a:extLst>
          </p:cNvPr>
          <p:cNvPicPr>
            <a:picLocks noChangeAspect="1"/>
          </p:cNvPicPr>
          <p:nvPr/>
        </p:nvPicPr>
        <p:blipFill>
          <a:blip r:embed="rId2"/>
          <a:stretch>
            <a:fillRect/>
          </a:stretch>
        </p:blipFill>
        <p:spPr>
          <a:xfrm>
            <a:off x="762920" y="2971800"/>
            <a:ext cx="10666159" cy="3118143"/>
          </a:xfrm>
          <a:prstGeom prst="rect">
            <a:avLst/>
          </a:prstGeom>
        </p:spPr>
      </p:pic>
      <p:sp>
        <p:nvSpPr>
          <p:cNvPr id="4" name="TextBox 3">
            <a:extLst>
              <a:ext uri="{FF2B5EF4-FFF2-40B4-BE49-F238E27FC236}">
                <a16:creationId xmlns:a16="http://schemas.microsoft.com/office/drawing/2014/main" id="{5249B669-D898-1E0B-0525-31B5167C0088}"/>
              </a:ext>
            </a:extLst>
          </p:cNvPr>
          <p:cNvSpPr txBox="1"/>
          <p:nvPr/>
        </p:nvSpPr>
        <p:spPr>
          <a:xfrm>
            <a:off x="609600" y="1000125"/>
            <a:ext cx="10666158" cy="1200329"/>
          </a:xfrm>
          <a:prstGeom prst="rect">
            <a:avLst/>
          </a:prstGeom>
          <a:noFill/>
        </p:spPr>
        <p:txBody>
          <a:bodyPr wrap="square" rtlCol="0">
            <a:spAutoFit/>
          </a:bodyPr>
          <a:lstStyle/>
          <a:p>
            <a:r>
              <a:rPr lang="en-US" b="1" dirty="0"/>
              <a:t>Observations and Insights – </a:t>
            </a:r>
          </a:p>
          <a:p>
            <a:pPr marL="285750" indent="-285750">
              <a:buFontTx/>
              <a:buChar char="-"/>
            </a:pPr>
            <a:r>
              <a:rPr lang="en-US" dirty="0"/>
              <a:t>Overall rating is around the Good range</a:t>
            </a:r>
          </a:p>
          <a:p>
            <a:pPr marL="285750" indent="-285750">
              <a:buFontTx/>
              <a:buChar char="-"/>
            </a:pPr>
            <a:r>
              <a:rPr lang="en-US" dirty="0"/>
              <a:t>Quarter 3 and 4 show decline in avg rating</a:t>
            </a:r>
          </a:p>
          <a:p>
            <a:pPr marL="285750" indent="-285750">
              <a:buFontTx/>
              <a:buChar char="-"/>
            </a:pPr>
            <a:r>
              <a:rPr lang="en-US" dirty="0"/>
              <a:t>Investigate low quarters to identify root cause.</a:t>
            </a:r>
          </a:p>
        </p:txBody>
      </p:sp>
    </p:spTree>
    <p:extLst>
      <p:ext uri="{BB962C8B-B14F-4D97-AF65-F5344CB8AC3E}">
        <p14:creationId xmlns:p14="http://schemas.microsoft.com/office/powerpoint/2010/main" val="2624048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C95C9E5-E190-2418-8879-605D319218A0}"/>
              </a:ext>
            </a:extLst>
          </p:cNvPr>
          <p:cNvSpPr txBox="1"/>
          <p:nvPr/>
        </p:nvSpPr>
        <p:spPr>
          <a:xfrm>
            <a:off x="605820" y="345440"/>
            <a:ext cx="10980360" cy="5909310"/>
          </a:xfrm>
          <a:prstGeom prst="rect">
            <a:avLst/>
          </a:prstGeom>
          <a:noFill/>
        </p:spPr>
        <p:txBody>
          <a:bodyPr wrap="square" rtlCol="0">
            <a:spAutoFit/>
          </a:bodyPr>
          <a:lstStyle/>
          <a:p>
            <a:r>
              <a:rPr lang="en-US" b="1" dirty="0"/>
              <a:t>Question 5 </a:t>
            </a:r>
          </a:p>
          <a:p>
            <a:r>
              <a:rPr lang="en-US" dirty="0"/>
              <a:t>Find the percentage distribution of feedback from the customers. Are customers getting more dissatisfied over time?</a:t>
            </a:r>
          </a:p>
          <a:p>
            <a:r>
              <a:rPr lang="en-US" dirty="0"/>
              <a:t>Solution Query – </a:t>
            </a:r>
          </a:p>
          <a:p>
            <a:endParaRPr lang="en-US" dirty="0"/>
          </a:p>
          <a:p>
            <a:r>
              <a:rPr lang="en-US" i="1" dirty="0"/>
              <a:t>SELECT     </a:t>
            </a:r>
          </a:p>
          <a:p>
            <a:r>
              <a:rPr lang="en-US" i="1" dirty="0"/>
              <a:t>    </a:t>
            </a:r>
            <a:r>
              <a:rPr lang="en-US" i="1" dirty="0" err="1"/>
              <a:t>quarter_number</a:t>
            </a:r>
            <a:r>
              <a:rPr lang="en-US" i="1" dirty="0"/>
              <a:t>,    </a:t>
            </a:r>
          </a:p>
          <a:p>
            <a:r>
              <a:rPr lang="en-US" i="1" dirty="0"/>
              <a:t>    ROUND(        </a:t>
            </a:r>
          </a:p>
          <a:p>
            <a:r>
              <a:rPr lang="en-US" i="1" dirty="0"/>
              <a:t>        SUM(CASE WHEN </a:t>
            </a:r>
            <a:r>
              <a:rPr lang="en-US" i="1" dirty="0" err="1"/>
              <a:t>customer_feedback</a:t>
            </a:r>
            <a:r>
              <a:rPr lang="en-US" i="1" dirty="0"/>
              <a:t> = 'Very Good' THEN 1 ELSE 0 END)        </a:t>
            </a:r>
          </a:p>
          <a:p>
            <a:r>
              <a:rPr lang="en-US" i="1" dirty="0"/>
              <a:t>        *100.0 / COUNT(*), 2    </a:t>
            </a:r>
          </a:p>
          <a:p>
            <a:r>
              <a:rPr lang="en-US" i="1" dirty="0"/>
              <a:t>    ) AS </a:t>
            </a:r>
            <a:r>
              <a:rPr lang="en-US" i="1" dirty="0" err="1"/>
              <a:t>very_good_percent</a:t>
            </a:r>
            <a:r>
              <a:rPr lang="en-US" i="1" dirty="0"/>
              <a:t>,    </a:t>
            </a:r>
          </a:p>
          <a:p>
            <a:endParaRPr lang="en-US" i="1" dirty="0"/>
          </a:p>
          <a:p>
            <a:r>
              <a:rPr lang="en-US" i="1" dirty="0"/>
              <a:t>    ROUND(        </a:t>
            </a:r>
          </a:p>
          <a:p>
            <a:r>
              <a:rPr lang="en-US" i="1" dirty="0"/>
              <a:t>        SUM(CASE WHEN </a:t>
            </a:r>
            <a:r>
              <a:rPr lang="en-US" i="1" dirty="0" err="1"/>
              <a:t>customer_feedback</a:t>
            </a:r>
            <a:r>
              <a:rPr lang="en-US" i="1" dirty="0"/>
              <a:t> = 'Good' THEN 1 ELSE 0 END)      </a:t>
            </a:r>
          </a:p>
          <a:p>
            <a:r>
              <a:rPr lang="en-US" i="1" dirty="0"/>
              <a:t>        * 100.0 / COUNT(*), 2   </a:t>
            </a:r>
          </a:p>
          <a:p>
            <a:r>
              <a:rPr lang="en-US" i="1" dirty="0"/>
              <a:t>    ) AS </a:t>
            </a:r>
            <a:r>
              <a:rPr lang="en-US" i="1" dirty="0" err="1"/>
              <a:t>good_percent</a:t>
            </a:r>
            <a:r>
              <a:rPr lang="en-US" i="1" dirty="0"/>
              <a:t>,    </a:t>
            </a:r>
          </a:p>
          <a:p>
            <a:endParaRPr lang="en-US" i="1" dirty="0"/>
          </a:p>
          <a:p>
            <a:r>
              <a:rPr lang="en-US" i="1" dirty="0"/>
              <a:t>    ROUND(        </a:t>
            </a:r>
          </a:p>
          <a:p>
            <a:r>
              <a:rPr lang="en-US" i="1" dirty="0"/>
              <a:t>        SUM(CASE WHEN </a:t>
            </a:r>
            <a:r>
              <a:rPr lang="en-US" i="1" dirty="0" err="1"/>
              <a:t>customer_feedback</a:t>
            </a:r>
            <a:r>
              <a:rPr lang="en-US" i="1" dirty="0"/>
              <a:t> = 'Okay' THEN 1 ELSE 0 END)       </a:t>
            </a:r>
          </a:p>
          <a:p>
            <a:r>
              <a:rPr lang="en-US" i="1" dirty="0"/>
              <a:t>        * 100.0 / COUNT(*), 2    </a:t>
            </a:r>
          </a:p>
          <a:p>
            <a:r>
              <a:rPr lang="en-US" i="1" dirty="0"/>
              <a:t>    ) AS </a:t>
            </a:r>
            <a:r>
              <a:rPr lang="en-US" i="1" dirty="0" err="1"/>
              <a:t>okay_percent</a:t>
            </a:r>
            <a:r>
              <a:rPr lang="en-US" i="1" dirty="0"/>
              <a:t>,</a:t>
            </a:r>
          </a:p>
        </p:txBody>
      </p:sp>
    </p:spTree>
    <p:extLst>
      <p:ext uri="{BB962C8B-B14F-4D97-AF65-F5344CB8AC3E}">
        <p14:creationId xmlns:p14="http://schemas.microsoft.com/office/powerpoint/2010/main" val="21650994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A74F07D-C139-F80D-E93A-F085F54D6B1A}"/>
              </a:ext>
            </a:extLst>
          </p:cNvPr>
          <p:cNvSpPr txBox="1"/>
          <p:nvPr/>
        </p:nvSpPr>
        <p:spPr>
          <a:xfrm>
            <a:off x="629920" y="812800"/>
            <a:ext cx="10932160" cy="3693319"/>
          </a:xfrm>
          <a:prstGeom prst="rect">
            <a:avLst/>
          </a:prstGeom>
          <a:noFill/>
        </p:spPr>
        <p:txBody>
          <a:bodyPr wrap="square" rtlCol="0">
            <a:spAutoFit/>
          </a:bodyPr>
          <a:lstStyle/>
          <a:p>
            <a:r>
              <a:rPr lang="en-US" dirty="0"/>
              <a:t>    </a:t>
            </a:r>
            <a:r>
              <a:rPr lang="en-US" i="1" dirty="0"/>
              <a:t>ROUND(        </a:t>
            </a:r>
          </a:p>
          <a:p>
            <a:r>
              <a:rPr lang="en-US" i="1" dirty="0"/>
              <a:t>        SUM(CASE WHEN </a:t>
            </a:r>
            <a:r>
              <a:rPr lang="en-US" i="1" dirty="0" err="1"/>
              <a:t>customer_feedback</a:t>
            </a:r>
            <a:r>
              <a:rPr lang="en-US" i="1" dirty="0"/>
              <a:t> = 'Bad' THEN 1 ELSE 0 END)       </a:t>
            </a:r>
          </a:p>
          <a:p>
            <a:r>
              <a:rPr lang="en-US" i="1" dirty="0"/>
              <a:t>        * 100.0 / COUNT(*), 2    </a:t>
            </a:r>
          </a:p>
          <a:p>
            <a:r>
              <a:rPr lang="en-US" i="1" dirty="0"/>
              <a:t>    ) AS </a:t>
            </a:r>
            <a:r>
              <a:rPr lang="en-US" i="1" dirty="0" err="1"/>
              <a:t>bad_percent</a:t>
            </a:r>
            <a:r>
              <a:rPr lang="en-US" i="1" dirty="0"/>
              <a:t>,    </a:t>
            </a:r>
          </a:p>
          <a:p>
            <a:endParaRPr lang="en-US" i="1" dirty="0"/>
          </a:p>
          <a:p>
            <a:r>
              <a:rPr lang="en-US" i="1" dirty="0"/>
              <a:t>    ROUND(       </a:t>
            </a:r>
          </a:p>
          <a:p>
            <a:r>
              <a:rPr lang="en-US" i="1" dirty="0"/>
              <a:t>         SUM(CASE WHEN </a:t>
            </a:r>
            <a:r>
              <a:rPr lang="en-US" i="1" dirty="0" err="1"/>
              <a:t>customer_feedback</a:t>
            </a:r>
            <a:r>
              <a:rPr lang="en-US" i="1" dirty="0"/>
              <a:t> = 'Very Bad' THEN 1 ELSE 0 END)        </a:t>
            </a:r>
          </a:p>
          <a:p>
            <a:r>
              <a:rPr lang="en-US" i="1" dirty="0"/>
              <a:t>        * 100.0 / COUNT(*), 2    </a:t>
            </a:r>
          </a:p>
          <a:p>
            <a:r>
              <a:rPr lang="en-US" i="1" dirty="0"/>
              <a:t>    ) AS </a:t>
            </a:r>
            <a:r>
              <a:rPr lang="en-US" i="1" dirty="0" err="1"/>
              <a:t>very_bad_percent</a:t>
            </a:r>
            <a:endParaRPr lang="en-US" i="1" dirty="0"/>
          </a:p>
          <a:p>
            <a:endParaRPr lang="en-US" i="1" dirty="0"/>
          </a:p>
          <a:p>
            <a:r>
              <a:rPr lang="en-US" i="1" dirty="0"/>
              <a:t>FROM order_t</a:t>
            </a:r>
          </a:p>
          <a:p>
            <a:r>
              <a:rPr lang="en-US" i="1" dirty="0"/>
              <a:t>GROUP BY </a:t>
            </a:r>
            <a:r>
              <a:rPr lang="en-US" i="1" dirty="0" err="1"/>
              <a:t>quarter_number</a:t>
            </a:r>
            <a:endParaRPr lang="en-US" i="1" dirty="0"/>
          </a:p>
          <a:p>
            <a:r>
              <a:rPr lang="en-US" i="1" dirty="0"/>
              <a:t>ORDER BY </a:t>
            </a:r>
            <a:r>
              <a:rPr lang="en-US" i="1" dirty="0" err="1"/>
              <a:t>quarter_number</a:t>
            </a:r>
            <a:r>
              <a:rPr lang="en-US" i="1" dirty="0"/>
              <a:t>;</a:t>
            </a:r>
          </a:p>
        </p:txBody>
      </p:sp>
    </p:spTree>
    <p:extLst>
      <p:ext uri="{BB962C8B-B14F-4D97-AF65-F5344CB8AC3E}">
        <p14:creationId xmlns:p14="http://schemas.microsoft.com/office/powerpoint/2010/main" val="29577968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9A01331-8AE5-D09E-100F-7C7D114126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260" y="3147219"/>
            <a:ext cx="11167480" cy="3282156"/>
          </a:xfrm>
          <a:prstGeom prst="rect">
            <a:avLst/>
          </a:prstGeom>
        </p:spPr>
      </p:pic>
      <p:sp>
        <p:nvSpPr>
          <p:cNvPr id="3" name="TextBox 2">
            <a:extLst>
              <a:ext uri="{FF2B5EF4-FFF2-40B4-BE49-F238E27FC236}">
                <a16:creationId xmlns:a16="http://schemas.microsoft.com/office/drawing/2014/main" id="{7E381AAF-2347-3543-BB9A-6088BA370DB6}"/>
              </a:ext>
            </a:extLst>
          </p:cNvPr>
          <p:cNvSpPr txBox="1"/>
          <p:nvPr/>
        </p:nvSpPr>
        <p:spPr>
          <a:xfrm>
            <a:off x="599440" y="762000"/>
            <a:ext cx="6272358" cy="1477328"/>
          </a:xfrm>
          <a:prstGeom prst="rect">
            <a:avLst/>
          </a:prstGeom>
          <a:noFill/>
        </p:spPr>
        <p:txBody>
          <a:bodyPr wrap="none" rtlCol="0">
            <a:spAutoFit/>
          </a:bodyPr>
          <a:lstStyle/>
          <a:p>
            <a:r>
              <a:rPr lang="en-US" b="1" dirty="0"/>
              <a:t>Observations and Insights – </a:t>
            </a:r>
          </a:p>
          <a:p>
            <a:pPr marL="285750" indent="-285750">
              <a:buFontTx/>
              <a:buChar char="-"/>
            </a:pPr>
            <a:r>
              <a:rPr lang="en-US" dirty="0"/>
              <a:t>If bad and Very bad percent rises then the dissatisfaction rises</a:t>
            </a:r>
          </a:p>
          <a:p>
            <a:pPr marL="285750" indent="-285750">
              <a:buFontTx/>
              <a:buChar char="-"/>
            </a:pPr>
            <a:r>
              <a:rPr lang="en-US" dirty="0"/>
              <a:t>Experience consistency is a challenge</a:t>
            </a:r>
          </a:p>
          <a:p>
            <a:pPr marL="285750" indent="-285750">
              <a:buFontTx/>
              <a:buChar char="-"/>
            </a:pPr>
            <a:r>
              <a:rPr lang="en-US" dirty="0"/>
              <a:t>Create early warning dashboard for negative feedback</a:t>
            </a:r>
          </a:p>
          <a:p>
            <a:pPr marL="285750" indent="-285750">
              <a:buFontTx/>
              <a:buChar char="-"/>
            </a:pPr>
            <a:r>
              <a:rPr lang="en-US" dirty="0"/>
              <a:t>Train sales and delivery teams on customer experience</a:t>
            </a:r>
          </a:p>
        </p:txBody>
      </p:sp>
    </p:spTree>
    <p:extLst>
      <p:ext uri="{BB962C8B-B14F-4D97-AF65-F5344CB8AC3E}">
        <p14:creationId xmlns:p14="http://schemas.microsoft.com/office/powerpoint/2010/main" val="13096203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C29C9A8-521F-C61D-4CA3-7B9B4777F70C}"/>
              </a:ext>
            </a:extLst>
          </p:cNvPr>
          <p:cNvSpPr txBox="1"/>
          <p:nvPr/>
        </p:nvSpPr>
        <p:spPr>
          <a:xfrm>
            <a:off x="599440" y="416560"/>
            <a:ext cx="10982960" cy="2862322"/>
          </a:xfrm>
          <a:prstGeom prst="rect">
            <a:avLst/>
          </a:prstGeom>
          <a:noFill/>
        </p:spPr>
        <p:txBody>
          <a:bodyPr wrap="square" rtlCol="0">
            <a:spAutoFit/>
          </a:bodyPr>
          <a:lstStyle/>
          <a:p>
            <a:r>
              <a:rPr lang="en-US" b="1" dirty="0"/>
              <a:t>Question 6</a:t>
            </a:r>
          </a:p>
          <a:p>
            <a:r>
              <a:rPr lang="en-US" dirty="0"/>
              <a:t>What is the trend of the number of orders by quarter?</a:t>
            </a:r>
          </a:p>
          <a:p>
            <a:r>
              <a:rPr lang="en-US" dirty="0"/>
              <a:t>Solution query – </a:t>
            </a:r>
          </a:p>
          <a:p>
            <a:endParaRPr lang="en-US" dirty="0"/>
          </a:p>
          <a:p>
            <a:r>
              <a:rPr lang="en-US" i="1" dirty="0"/>
              <a:t>SELECT     </a:t>
            </a:r>
          </a:p>
          <a:p>
            <a:r>
              <a:rPr lang="en-US" i="1" dirty="0"/>
              <a:t>    </a:t>
            </a:r>
            <a:r>
              <a:rPr lang="en-US" i="1" dirty="0" err="1"/>
              <a:t>quarter_number</a:t>
            </a:r>
            <a:r>
              <a:rPr lang="en-US" i="1" dirty="0"/>
              <a:t>,    </a:t>
            </a:r>
          </a:p>
          <a:p>
            <a:r>
              <a:rPr lang="en-US" i="1" dirty="0"/>
              <a:t>    COUNT(</a:t>
            </a:r>
            <a:r>
              <a:rPr lang="en-US" i="1" dirty="0" err="1"/>
              <a:t>order_id</a:t>
            </a:r>
            <a:r>
              <a:rPr lang="en-US" i="1" dirty="0"/>
              <a:t>) AS </a:t>
            </a:r>
            <a:r>
              <a:rPr lang="en-US" i="1" dirty="0" err="1"/>
              <a:t>total_orders</a:t>
            </a:r>
            <a:endParaRPr lang="en-US" i="1" dirty="0"/>
          </a:p>
          <a:p>
            <a:r>
              <a:rPr lang="en-US" i="1" dirty="0"/>
              <a:t>FROM order_t</a:t>
            </a:r>
          </a:p>
          <a:p>
            <a:r>
              <a:rPr lang="en-US" i="1" dirty="0"/>
              <a:t>GROUP BY </a:t>
            </a:r>
            <a:r>
              <a:rPr lang="en-US" i="1" dirty="0" err="1"/>
              <a:t>quarter_number</a:t>
            </a:r>
            <a:endParaRPr lang="en-US" i="1" dirty="0"/>
          </a:p>
          <a:p>
            <a:r>
              <a:rPr lang="en-US" i="1" dirty="0"/>
              <a:t>ORDER BY </a:t>
            </a:r>
            <a:r>
              <a:rPr lang="en-US" i="1" dirty="0" err="1"/>
              <a:t>quarter_number</a:t>
            </a:r>
            <a:r>
              <a:rPr lang="en-US" i="1" dirty="0"/>
              <a:t>;</a:t>
            </a:r>
          </a:p>
        </p:txBody>
      </p:sp>
      <p:pic>
        <p:nvPicPr>
          <p:cNvPr id="4" name="Picture 3">
            <a:extLst>
              <a:ext uri="{FF2B5EF4-FFF2-40B4-BE49-F238E27FC236}">
                <a16:creationId xmlns:a16="http://schemas.microsoft.com/office/drawing/2014/main" id="{FBDC3122-3F7B-5C15-7182-13A76B44E6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9620" y="3429000"/>
            <a:ext cx="10642600" cy="3127893"/>
          </a:xfrm>
          <a:prstGeom prst="rect">
            <a:avLst/>
          </a:prstGeom>
        </p:spPr>
      </p:pic>
    </p:spTree>
    <p:extLst>
      <p:ext uri="{BB962C8B-B14F-4D97-AF65-F5344CB8AC3E}">
        <p14:creationId xmlns:p14="http://schemas.microsoft.com/office/powerpoint/2010/main" val="12743145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3162ABB-FC3E-26DE-0671-3269025ECDC8}"/>
              </a:ext>
            </a:extLst>
          </p:cNvPr>
          <p:cNvSpPr txBox="1"/>
          <p:nvPr/>
        </p:nvSpPr>
        <p:spPr>
          <a:xfrm>
            <a:off x="538480" y="721360"/>
            <a:ext cx="10993120" cy="1477328"/>
          </a:xfrm>
          <a:prstGeom prst="rect">
            <a:avLst/>
          </a:prstGeom>
          <a:noFill/>
        </p:spPr>
        <p:txBody>
          <a:bodyPr wrap="square" rtlCol="0">
            <a:spAutoFit/>
          </a:bodyPr>
          <a:lstStyle/>
          <a:p>
            <a:r>
              <a:rPr lang="en-US" b="1" dirty="0"/>
              <a:t>Observations and Insights – </a:t>
            </a:r>
          </a:p>
          <a:p>
            <a:pPr marL="285750" indent="-285750">
              <a:buFontTx/>
              <a:buChar char="-"/>
            </a:pPr>
            <a:r>
              <a:rPr lang="en-US" dirty="0"/>
              <a:t>Order volume shows seasonal fluctuations</a:t>
            </a:r>
          </a:p>
          <a:p>
            <a:pPr marL="285750" indent="-285750">
              <a:buFontTx/>
              <a:buChar char="-"/>
            </a:pPr>
            <a:r>
              <a:rPr lang="en-US" dirty="0"/>
              <a:t>Some quarter contribute significantly higher sales</a:t>
            </a:r>
          </a:p>
          <a:p>
            <a:pPr marL="285750" indent="-285750">
              <a:buFontTx/>
              <a:buChar char="-"/>
            </a:pPr>
            <a:r>
              <a:rPr lang="en-US" dirty="0"/>
              <a:t>Demand is not evenly distributed </a:t>
            </a:r>
          </a:p>
          <a:p>
            <a:pPr marL="285750" indent="-285750">
              <a:buFontTx/>
              <a:buChar char="-"/>
            </a:pPr>
            <a:r>
              <a:rPr lang="en-US" dirty="0"/>
              <a:t>Align marketing calendar with high demand periods</a:t>
            </a:r>
          </a:p>
        </p:txBody>
      </p:sp>
    </p:spTree>
    <p:extLst>
      <p:ext uri="{BB962C8B-B14F-4D97-AF65-F5344CB8AC3E}">
        <p14:creationId xmlns:p14="http://schemas.microsoft.com/office/powerpoint/2010/main" val="33050367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E83AAE-B329-4869-4775-EF7DB81DE0AA}"/>
              </a:ext>
            </a:extLst>
          </p:cNvPr>
          <p:cNvSpPr txBox="1"/>
          <p:nvPr/>
        </p:nvSpPr>
        <p:spPr>
          <a:xfrm>
            <a:off x="609600" y="396240"/>
            <a:ext cx="10972800" cy="6186309"/>
          </a:xfrm>
          <a:prstGeom prst="rect">
            <a:avLst/>
          </a:prstGeom>
          <a:noFill/>
        </p:spPr>
        <p:txBody>
          <a:bodyPr wrap="square" rtlCol="0">
            <a:spAutoFit/>
          </a:bodyPr>
          <a:lstStyle/>
          <a:p>
            <a:r>
              <a:rPr lang="en-US" b="1" dirty="0"/>
              <a:t>Question 7</a:t>
            </a:r>
          </a:p>
          <a:p>
            <a:r>
              <a:rPr lang="en-US" dirty="0"/>
              <a:t>Calculate the net revenue generated by the company. What is the quarter-over-quarter % change in net revenue?</a:t>
            </a:r>
          </a:p>
          <a:p>
            <a:r>
              <a:rPr lang="en-US" dirty="0"/>
              <a:t>Solution query – </a:t>
            </a:r>
          </a:p>
          <a:p>
            <a:endParaRPr lang="en-US" dirty="0"/>
          </a:p>
          <a:p>
            <a:r>
              <a:rPr lang="en-US" i="1" dirty="0"/>
              <a:t>SELECT     </a:t>
            </a:r>
          </a:p>
          <a:p>
            <a:r>
              <a:rPr lang="en-US" i="1" dirty="0"/>
              <a:t>    </a:t>
            </a:r>
            <a:r>
              <a:rPr lang="en-US" i="1" dirty="0" err="1"/>
              <a:t>quarter_number</a:t>
            </a:r>
            <a:r>
              <a:rPr lang="en-US" i="1" dirty="0"/>
              <a:t>,</a:t>
            </a:r>
          </a:p>
          <a:p>
            <a:endParaRPr lang="en-US" i="1" dirty="0"/>
          </a:p>
          <a:p>
            <a:r>
              <a:rPr lang="en-US" i="1" dirty="0"/>
              <a:t>        SUM(        </a:t>
            </a:r>
            <a:r>
              <a:rPr lang="en-US" i="1" dirty="0" err="1"/>
              <a:t>order_t.quantity</a:t>
            </a:r>
            <a:r>
              <a:rPr lang="en-US" i="1" dirty="0"/>
              <a:t> * </a:t>
            </a:r>
            <a:r>
              <a:rPr lang="en-US" i="1" dirty="0" err="1"/>
              <a:t>product_t.vehicle_price</a:t>
            </a:r>
            <a:r>
              <a:rPr lang="en-US" i="1" dirty="0"/>
              <a:t> *         </a:t>
            </a:r>
          </a:p>
          <a:p>
            <a:r>
              <a:rPr lang="en-US" i="1" dirty="0"/>
              <a:t>        (1 - </a:t>
            </a:r>
            <a:r>
              <a:rPr lang="en-US" i="1" dirty="0" err="1"/>
              <a:t>order_t.discount</a:t>
            </a:r>
            <a:r>
              <a:rPr lang="en-US" i="1" dirty="0"/>
              <a:t> / 100)    </a:t>
            </a:r>
          </a:p>
          <a:p>
            <a:r>
              <a:rPr lang="en-US" i="1" dirty="0"/>
              <a:t>    ) AS </a:t>
            </a:r>
            <a:r>
              <a:rPr lang="en-US" i="1" dirty="0" err="1"/>
              <a:t>net_revenue</a:t>
            </a:r>
            <a:r>
              <a:rPr lang="en-US" i="1" dirty="0"/>
              <a:t>,</a:t>
            </a:r>
          </a:p>
          <a:p>
            <a:endParaRPr lang="en-US" i="1" dirty="0"/>
          </a:p>
          <a:p>
            <a:r>
              <a:rPr lang="en-US" i="1" dirty="0"/>
              <a:t>    LAG(        </a:t>
            </a:r>
          </a:p>
          <a:p>
            <a:r>
              <a:rPr lang="en-US" i="1" dirty="0"/>
              <a:t>        SUM(</a:t>
            </a:r>
            <a:r>
              <a:rPr lang="en-US" i="1" dirty="0" err="1"/>
              <a:t>order_t.quantity</a:t>
            </a:r>
            <a:r>
              <a:rPr lang="en-US" i="1" dirty="0"/>
              <a:t> * </a:t>
            </a:r>
            <a:r>
              <a:rPr lang="en-US" i="1" dirty="0" err="1"/>
              <a:t>product_t.vehicle_price</a:t>
            </a:r>
            <a:r>
              <a:rPr lang="en-US" i="1" dirty="0"/>
              <a:t> *             </a:t>
            </a:r>
          </a:p>
          <a:p>
            <a:r>
              <a:rPr lang="en-US" i="1" dirty="0"/>
              <a:t>          (1 - </a:t>
            </a:r>
            <a:r>
              <a:rPr lang="en-US" i="1" dirty="0" err="1"/>
              <a:t>order_t.discount</a:t>
            </a:r>
            <a:r>
              <a:rPr lang="en-US" i="1" dirty="0"/>
              <a:t> / 100)        </a:t>
            </a:r>
          </a:p>
          <a:p>
            <a:r>
              <a:rPr lang="en-US" i="1" dirty="0"/>
              <a:t>        )    </a:t>
            </a:r>
          </a:p>
          <a:p>
            <a:r>
              <a:rPr lang="en-US" i="1" dirty="0"/>
              <a:t>    ) OVER (ORDER BY </a:t>
            </a:r>
            <a:r>
              <a:rPr lang="en-US" i="1" dirty="0" err="1"/>
              <a:t>quarter_number</a:t>
            </a:r>
            <a:r>
              <a:rPr lang="en-US" i="1" dirty="0"/>
              <a:t>) AS </a:t>
            </a:r>
            <a:r>
              <a:rPr lang="en-US" i="1" dirty="0" err="1"/>
              <a:t>previous_quarter_revenue</a:t>
            </a:r>
            <a:r>
              <a:rPr lang="en-US" i="1" dirty="0"/>
              <a:t>,</a:t>
            </a:r>
          </a:p>
          <a:p>
            <a:endParaRPr lang="en-US" i="1" dirty="0"/>
          </a:p>
          <a:p>
            <a:r>
              <a:rPr lang="en-US" i="1" dirty="0"/>
              <a:t>    ROUND(        </a:t>
            </a:r>
          </a:p>
          <a:p>
            <a:r>
              <a:rPr lang="en-US" i="1" dirty="0"/>
              <a:t>(            </a:t>
            </a:r>
          </a:p>
          <a:p>
            <a:r>
              <a:rPr lang="en-US" i="1" dirty="0"/>
              <a:t>       SUM(</a:t>
            </a:r>
            <a:r>
              <a:rPr lang="en-US" i="1" dirty="0" err="1"/>
              <a:t>order_t.quantity</a:t>
            </a:r>
            <a:r>
              <a:rPr lang="en-US" i="1" dirty="0"/>
              <a:t> * </a:t>
            </a:r>
            <a:r>
              <a:rPr lang="en-US" i="1" dirty="0" err="1"/>
              <a:t>product_t.vehicle_price</a:t>
            </a:r>
            <a:r>
              <a:rPr lang="en-US" i="1" dirty="0"/>
              <a:t> *                 </a:t>
            </a:r>
          </a:p>
          <a:p>
            <a:r>
              <a:rPr lang="en-US" i="1" dirty="0"/>
              <a:t>          (1 - </a:t>
            </a:r>
            <a:r>
              <a:rPr lang="en-US" i="1" dirty="0" err="1"/>
              <a:t>order_t.discount</a:t>
            </a:r>
            <a:r>
              <a:rPr lang="en-US" i="1" dirty="0"/>
              <a:t> / 100)            </a:t>
            </a:r>
          </a:p>
          <a:p>
            <a:r>
              <a:rPr lang="en-US" i="1" dirty="0"/>
              <a:t>       )</a:t>
            </a:r>
          </a:p>
        </p:txBody>
      </p:sp>
    </p:spTree>
    <p:extLst>
      <p:ext uri="{BB962C8B-B14F-4D97-AF65-F5344CB8AC3E}">
        <p14:creationId xmlns:p14="http://schemas.microsoft.com/office/powerpoint/2010/main" val="21620242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BFDCBDE-C254-6E33-83F0-6E7300CF1B64}"/>
              </a:ext>
            </a:extLst>
          </p:cNvPr>
          <p:cNvSpPr txBox="1"/>
          <p:nvPr/>
        </p:nvSpPr>
        <p:spPr>
          <a:xfrm>
            <a:off x="599440" y="406400"/>
            <a:ext cx="10926253" cy="5632311"/>
          </a:xfrm>
          <a:prstGeom prst="rect">
            <a:avLst/>
          </a:prstGeom>
          <a:noFill/>
        </p:spPr>
        <p:txBody>
          <a:bodyPr wrap="square" rtlCol="0">
            <a:spAutoFit/>
          </a:bodyPr>
          <a:lstStyle/>
          <a:p>
            <a:r>
              <a:rPr lang="en-US" dirty="0"/>
              <a:t>    </a:t>
            </a:r>
            <a:r>
              <a:rPr lang="en-US" i="1" dirty="0"/>
              <a:t>LAG(                </a:t>
            </a:r>
          </a:p>
          <a:p>
            <a:r>
              <a:rPr lang="en-US" i="1" dirty="0"/>
              <a:t>        SUM(</a:t>
            </a:r>
            <a:r>
              <a:rPr lang="en-US" i="1" dirty="0" err="1"/>
              <a:t>order_t.quantity</a:t>
            </a:r>
            <a:r>
              <a:rPr lang="en-US" i="1" dirty="0"/>
              <a:t> * </a:t>
            </a:r>
            <a:r>
              <a:rPr lang="en-US" i="1" dirty="0" err="1"/>
              <a:t>product_t.vehicle_price</a:t>
            </a:r>
            <a:r>
              <a:rPr lang="en-US" i="1" dirty="0"/>
              <a:t> *                     </a:t>
            </a:r>
          </a:p>
          <a:p>
            <a:r>
              <a:rPr lang="en-US" i="1" dirty="0"/>
              <a:t>          (1 - </a:t>
            </a:r>
            <a:r>
              <a:rPr lang="en-US" i="1" dirty="0" err="1"/>
              <a:t>order_t.discount</a:t>
            </a:r>
            <a:r>
              <a:rPr lang="en-US" i="1" dirty="0"/>
              <a:t> / 100)                </a:t>
            </a:r>
          </a:p>
          <a:p>
            <a:r>
              <a:rPr lang="en-US" i="1" dirty="0"/>
              <a:t>        )            </a:t>
            </a:r>
          </a:p>
          <a:p>
            <a:r>
              <a:rPr lang="en-US" i="1" dirty="0"/>
              <a:t>    ) OVER (ORDER BY </a:t>
            </a:r>
            <a:r>
              <a:rPr lang="en-US" i="1" dirty="0" err="1"/>
              <a:t>quarter_number</a:t>
            </a:r>
            <a:r>
              <a:rPr lang="en-US" i="1" dirty="0"/>
              <a:t>)        </a:t>
            </a:r>
          </a:p>
          <a:p>
            <a:r>
              <a:rPr lang="en-US" i="1" dirty="0"/>
              <a:t>)</a:t>
            </a:r>
          </a:p>
          <a:p>
            <a:r>
              <a:rPr lang="en-US" i="1" dirty="0"/>
              <a:t>/</a:t>
            </a:r>
          </a:p>
          <a:p>
            <a:r>
              <a:rPr lang="en-US" i="1" dirty="0"/>
              <a:t>    LAG(            </a:t>
            </a:r>
          </a:p>
          <a:p>
            <a:r>
              <a:rPr lang="en-US" i="1" dirty="0"/>
              <a:t>        SUM(</a:t>
            </a:r>
            <a:r>
              <a:rPr lang="en-US" i="1" dirty="0" err="1"/>
              <a:t>order_t.quantity</a:t>
            </a:r>
            <a:r>
              <a:rPr lang="en-US" i="1" dirty="0"/>
              <a:t> * </a:t>
            </a:r>
            <a:r>
              <a:rPr lang="en-US" i="1" dirty="0" err="1"/>
              <a:t>product_t.vehicle_price</a:t>
            </a:r>
            <a:r>
              <a:rPr lang="en-US" i="1" dirty="0"/>
              <a:t> *                 </a:t>
            </a:r>
          </a:p>
          <a:p>
            <a:r>
              <a:rPr lang="en-US" i="1" dirty="0"/>
              <a:t>          (1 - </a:t>
            </a:r>
            <a:r>
              <a:rPr lang="en-US" i="1" dirty="0" err="1"/>
              <a:t>order_t.discount</a:t>
            </a:r>
            <a:r>
              <a:rPr lang="en-US" i="1" dirty="0"/>
              <a:t> / 100)            </a:t>
            </a:r>
          </a:p>
          <a:p>
            <a:r>
              <a:rPr lang="en-US" i="1" dirty="0"/>
              <a:t>        )        </a:t>
            </a:r>
          </a:p>
          <a:p>
            <a:r>
              <a:rPr lang="en-US" i="1" dirty="0"/>
              <a:t>    ) OVER (ORDER BY </a:t>
            </a:r>
            <a:r>
              <a:rPr lang="en-US" i="1" dirty="0" err="1"/>
              <a:t>quarter_number</a:t>
            </a:r>
            <a:r>
              <a:rPr lang="en-US" i="1" dirty="0"/>
              <a:t>)</a:t>
            </a:r>
          </a:p>
          <a:p>
            <a:r>
              <a:rPr lang="fr-FR" i="1" dirty="0"/>
              <a:t>    *100 , 2     </a:t>
            </a:r>
          </a:p>
          <a:p>
            <a:r>
              <a:rPr lang="fr-FR" i="1" dirty="0"/>
              <a:t>)AS </a:t>
            </a:r>
            <a:r>
              <a:rPr lang="fr-FR" i="1" dirty="0" err="1"/>
              <a:t>qoq_percent_change</a:t>
            </a:r>
            <a:endParaRPr lang="fr-FR" i="1" dirty="0"/>
          </a:p>
          <a:p>
            <a:endParaRPr lang="fr-FR" i="1" dirty="0"/>
          </a:p>
          <a:p>
            <a:r>
              <a:rPr lang="en-US" i="1" dirty="0"/>
              <a:t>FROM order_t</a:t>
            </a:r>
          </a:p>
          <a:p>
            <a:r>
              <a:rPr lang="en-US" i="1" dirty="0"/>
              <a:t>JOIN </a:t>
            </a:r>
            <a:r>
              <a:rPr lang="en-US" i="1" dirty="0" err="1"/>
              <a:t>product_t</a:t>
            </a:r>
            <a:r>
              <a:rPr lang="en-US" i="1" dirty="0"/>
              <a:t>    </a:t>
            </a:r>
          </a:p>
          <a:p>
            <a:r>
              <a:rPr lang="en-US" i="1" dirty="0"/>
              <a:t>    ON </a:t>
            </a:r>
            <a:r>
              <a:rPr lang="en-US" i="1" dirty="0" err="1"/>
              <a:t>order_t.product_id</a:t>
            </a:r>
            <a:r>
              <a:rPr lang="en-US" i="1" dirty="0"/>
              <a:t> = </a:t>
            </a:r>
            <a:r>
              <a:rPr lang="en-US" i="1" dirty="0" err="1"/>
              <a:t>product_t.product_id</a:t>
            </a:r>
            <a:endParaRPr lang="en-US" i="1" dirty="0"/>
          </a:p>
          <a:p>
            <a:r>
              <a:rPr lang="en-US" i="1" dirty="0"/>
              <a:t>GROUP BY </a:t>
            </a:r>
            <a:r>
              <a:rPr lang="en-US" i="1" dirty="0" err="1"/>
              <a:t>quarter_number</a:t>
            </a:r>
            <a:endParaRPr lang="en-US" i="1" dirty="0"/>
          </a:p>
          <a:p>
            <a:r>
              <a:rPr lang="en-US" i="1" dirty="0"/>
              <a:t>ORDER BY </a:t>
            </a:r>
            <a:r>
              <a:rPr lang="en-US" i="1" dirty="0" err="1"/>
              <a:t>quarter_number</a:t>
            </a:r>
            <a:r>
              <a:rPr lang="en-US" i="1" dirty="0"/>
              <a:t>;</a:t>
            </a:r>
          </a:p>
        </p:txBody>
      </p:sp>
    </p:spTree>
    <p:extLst>
      <p:ext uri="{BB962C8B-B14F-4D97-AF65-F5344CB8AC3E}">
        <p14:creationId xmlns:p14="http://schemas.microsoft.com/office/powerpoint/2010/main" val="29517056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F1967D7-0AA2-6645-4570-31246489D131}"/>
              </a:ext>
            </a:extLst>
          </p:cNvPr>
          <p:cNvPicPr>
            <a:picLocks noChangeAspect="1"/>
          </p:cNvPicPr>
          <p:nvPr/>
        </p:nvPicPr>
        <p:blipFill>
          <a:blip r:embed="rId2"/>
          <a:stretch>
            <a:fillRect/>
          </a:stretch>
        </p:blipFill>
        <p:spPr>
          <a:xfrm>
            <a:off x="482600" y="3074417"/>
            <a:ext cx="11226800" cy="3291321"/>
          </a:xfrm>
          <a:prstGeom prst="rect">
            <a:avLst/>
          </a:prstGeom>
        </p:spPr>
      </p:pic>
      <p:sp>
        <p:nvSpPr>
          <p:cNvPr id="4" name="TextBox 3">
            <a:extLst>
              <a:ext uri="{FF2B5EF4-FFF2-40B4-BE49-F238E27FC236}">
                <a16:creationId xmlns:a16="http://schemas.microsoft.com/office/drawing/2014/main" id="{2FDB77E0-BF44-812A-FE8C-ACA8EA0FDC89}"/>
              </a:ext>
            </a:extLst>
          </p:cNvPr>
          <p:cNvSpPr txBox="1"/>
          <p:nvPr/>
        </p:nvSpPr>
        <p:spPr>
          <a:xfrm>
            <a:off x="609600" y="660400"/>
            <a:ext cx="10993120" cy="1477328"/>
          </a:xfrm>
          <a:prstGeom prst="rect">
            <a:avLst/>
          </a:prstGeom>
          <a:noFill/>
        </p:spPr>
        <p:txBody>
          <a:bodyPr wrap="square" rtlCol="0">
            <a:spAutoFit/>
          </a:bodyPr>
          <a:lstStyle/>
          <a:p>
            <a:r>
              <a:rPr lang="en-US" b="1" dirty="0"/>
              <a:t>Observations and Insights – </a:t>
            </a:r>
          </a:p>
          <a:p>
            <a:pPr marL="285750" indent="-285750">
              <a:buFontTx/>
              <a:buChar char="-"/>
            </a:pPr>
            <a:r>
              <a:rPr lang="en-US" dirty="0"/>
              <a:t>Negative QoQ change indicates margin pressure</a:t>
            </a:r>
          </a:p>
          <a:p>
            <a:pPr marL="285750" indent="-285750">
              <a:buFontTx/>
              <a:buChar char="-"/>
            </a:pPr>
            <a:r>
              <a:rPr lang="en-US" dirty="0"/>
              <a:t>Discounts heavily impact profitability</a:t>
            </a:r>
          </a:p>
          <a:p>
            <a:pPr marL="285750" indent="-285750">
              <a:buFontTx/>
              <a:buChar char="-"/>
            </a:pPr>
            <a:r>
              <a:rPr lang="en-US" dirty="0"/>
              <a:t>Promote high margin models in declining quarters</a:t>
            </a:r>
          </a:p>
          <a:p>
            <a:pPr marL="285750" indent="-285750">
              <a:buFontTx/>
              <a:buChar char="-"/>
            </a:pPr>
            <a:r>
              <a:rPr lang="en-US" dirty="0"/>
              <a:t>Revenue seen reduced while moving to next quarter</a:t>
            </a:r>
          </a:p>
        </p:txBody>
      </p:sp>
    </p:spTree>
    <p:extLst>
      <p:ext uri="{BB962C8B-B14F-4D97-AF65-F5344CB8AC3E}">
        <p14:creationId xmlns:p14="http://schemas.microsoft.com/office/powerpoint/2010/main" val="25883164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86AC93B-D64F-531F-09E2-F82BC0BD56A3}"/>
              </a:ext>
            </a:extLst>
          </p:cNvPr>
          <p:cNvSpPr txBox="1"/>
          <p:nvPr/>
        </p:nvSpPr>
        <p:spPr>
          <a:xfrm>
            <a:off x="609600" y="477520"/>
            <a:ext cx="11013440" cy="5355312"/>
          </a:xfrm>
          <a:prstGeom prst="rect">
            <a:avLst/>
          </a:prstGeom>
          <a:noFill/>
        </p:spPr>
        <p:txBody>
          <a:bodyPr wrap="square" rtlCol="0">
            <a:spAutoFit/>
          </a:bodyPr>
          <a:lstStyle/>
          <a:p>
            <a:r>
              <a:rPr lang="en-US" b="1" dirty="0"/>
              <a:t>Question 8</a:t>
            </a:r>
          </a:p>
          <a:p>
            <a:r>
              <a:rPr lang="en-US" dirty="0"/>
              <a:t>What is the trend of net revenue and orders by quarters?</a:t>
            </a:r>
          </a:p>
          <a:p>
            <a:r>
              <a:rPr lang="en-US" dirty="0"/>
              <a:t>Solution Query – </a:t>
            </a:r>
          </a:p>
          <a:p>
            <a:endParaRPr lang="en-US" dirty="0"/>
          </a:p>
          <a:p>
            <a:r>
              <a:rPr lang="en-US" i="1" dirty="0"/>
              <a:t>SELECT     </a:t>
            </a:r>
          </a:p>
          <a:p>
            <a:r>
              <a:rPr lang="en-US" i="1" dirty="0"/>
              <a:t>     </a:t>
            </a:r>
            <a:r>
              <a:rPr lang="en-US" i="1" dirty="0" err="1"/>
              <a:t>order_t.quarter_number</a:t>
            </a:r>
            <a:r>
              <a:rPr lang="en-US" i="1" dirty="0"/>
              <a:t>,  </a:t>
            </a:r>
          </a:p>
          <a:p>
            <a:r>
              <a:rPr lang="en-US" i="1" dirty="0"/>
              <a:t> </a:t>
            </a:r>
          </a:p>
          <a:p>
            <a:r>
              <a:rPr lang="en-US" i="1" dirty="0"/>
              <a:t>     COUNT(</a:t>
            </a:r>
            <a:r>
              <a:rPr lang="en-US" i="1" dirty="0" err="1"/>
              <a:t>order_t.order_id</a:t>
            </a:r>
            <a:r>
              <a:rPr lang="en-US" i="1" dirty="0"/>
              <a:t>) AS </a:t>
            </a:r>
            <a:r>
              <a:rPr lang="en-US" i="1" dirty="0" err="1"/>
              <a:t>total_orders</a:t>
            </a:r>
            <a:r>
              <a:rPr lang="en-US" i="1" dirty="0"/>
              <a:t>,</a:t>
            </a:r>
          </a:p>
          <a:p>
            <a:r>
              <a:rPr lang="en-US" i="1" dirty="0"/>
              <a:t>    </a:t>
            </a:r>
          </a:p>
          <a:p>
            <a:r>
              <a:rPr lang="en-US" i="1" dirty="0"/>
              <a:t>     SUM(        </a:t>
            </a:r>
          </a:p>
          <a:p>
            <a:r>
              <a:rPr lang="en-US" i="1" dirty="0"/>
              <a:t>        </a:t>
            </a:r>
            <a:r>
              <a:rPr lang="en-US" i="1" dirty="0" err="1"/>
              <a:t>order_t.quantity</a:t>
            </a:r>
            <a:r>
              <a:rPr lang="en-US" i="1" dirty="0"/>
              <a:t> * </a:t>
            </a:r>
            <a:r>
              <a:rPr lang="en-US" i="1" dirty="0" err="1"/>
              <a:t>product_t.vehicle_price</a:t>
            </a:r>
            <a:r>
              <a:rPr lang="en-US" i="1" dirty="0"/>
              <a:t> *        </a:t>
            </a:r>
          </a:p>
          <a:p>
            <a:r>
              <a:rPr lang="en-US" i="1" dirty="0"/>
              <a:t>        (1 - </a:t>
            </a:r>
            <a:r>
              <a:rPr lang="en-US" i="1" dirty="0" err="1"/>
              <a:t>order_t.discount</a:t>
            </a:r>
            <a:r>
              <a:rPr lang="en-US" i="1" dirty="0"/>
              <a:t> / 100)    </a:t>
            </a:r>
          </a:p>
          <a:p>
            <a:r>
              <a:rPr lang="en-US" i="1" dirty="0"/>
              <a:t>     ) AS </a:t>
            </a:r>
            <a:r>
              <a:rPr lang="en-US" i="1" dirty="0" err="1"/>
              <a:t>net_revenue</a:t>
            </a:r>
            <a:endParaRPr lang="en-US" i="1" dirty="0"/>
          </a:p>
          <a:p>
            <a:endParaRPr lang="en-US" i="1" dirty="0"/>
          </a:p>
          <a:p>
            <a:r>
              <a:rPr lang="en-US" i="1" dirty="0"/>
              <a:t>FROM order_t</a:t>
            </a:r>
          </a:p>
          <a:p>
            <a:r>
              <a:rPr lang="en-US" i="1" dirty="0"/>
              <a:t>JOIN </a:t>
            </a:r>
            <a:r>
              <a:rPr lang="en-US" i="1" dirty="0" err="1"/>
              <a:t>product_t</a:t>
            </a:r>
            <a:r>
              <a:rPr lang="en-US" i="1" dirty="0"/>
              <a:t>    </a:t>
            </a:r>
          </a:p>
          <a:p>
            <a:r>
              <a:rPr lang="en-US" i="1" dirty="0"/>
              <a:t>     ON </a:t>
            </a:r>
            <a:r>
              <a:rPr lang="en-US" i="1" dirty="0" err="1"/>
              <a:t>order_t.product_id</a:t>
            </a:r>
            <a:r>
              <a:rPr lang="en-US" i="1" dirty="0"/>
              <a:t> = </a:t>
            </a:r>
            <a:r>
              <a:rPr lang="en-US" i="1" dirty="0" err="1"/>
              <a:t>product_t.product_id</a:t>
            </a:r>
            <a:endParaRPr lang="en-US" i="1" dirty="0"/>
          </a:p>
          <a:p>
            <a:r>
              <a:rPr lang="en-US" i="1" dirty="0"/>
              <a:t>GROUP BY </a:t>
            </a:r>
            <a:r>
              <a:rPr lang="en-US" i="1" dirty="0" err="1"/>
              <a:t>order_t.quarter_number</a:t>
            </a:r>
            <a:endParaRPr lang="en-US" i="1" dirty="0"/>
          </a:p>
          <a:p>
            <a:r>
              <a:rPr lang="en-US" i="1" dirty="0"/>
              <a:t>ORDER BY </a:t>
            </a:r>
            <a:r>
              <a:rPr lang="en-US" i="1" dirty="0" err="1"/>
              <a:t>order_t.quarter_number</a:t>
            </a:r>
            <a:r>
              <a:rPr lang="en-US" i="1" dirty="0"/>
              <a:t>;</a:t>
            </a:r>
          </a:p>
        </p:txBody>
      </p:sp>
    </p:spTree>
    <p:extLst>
      <p:ext uri="{BB962C8B-B14F-4D97-AF65-F5344CB8AC3E}">
        <p14:creationId xmlns:p14="http://schemas.microsoft.com/office/powerpoint/2010/main" val="4696832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D327BE-3145-5146-9538-B7A12ED66E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5275" y="3059620"/>
            <a:ext cx="11601450" cy="3415748"/>
          </a:xfrm>
          <a:prstGeom prst="rect">
            <a:avLst/>
          </a:prstGeom>
        </p:spPr>
      </p:pic>
      <p:sp>
        <p:nvSpPr>
          <p:cNvPr id="4" name="TextBox 3">
            <a:extLst>
              <a:ext uri="{FF2B5EF4-FFF2-40B4-BE49-F238E27FC236}">
                <a16:creationId xmlns:a16="http://schemas.microsoft.com/office/drawing/2014/main" id="{A1EDE7AA-1360-2313-7B20-9DA0A6BFC03D}"/>
              </a:ext>
            </a:extLst>
          </p:cNvPr>
          <p:cNvSpPr txBox="1"/>
          <p:nvPr/>
        </p:nvSpPr>
        <p:spPr>
          <a:xfrm>
            <a:off x="609600" y="1046480"/>
            <a:ext cx="4295728" cy="923330"/>
          </a:xfrm>
          <a:prstGeom prst="rect">
            <a:avLst/>
          </a:prstGeom>
          <a:noFill/>
        </p:spPr>
        <p:txBody>
          <a:bodyPr wrap="none" rtlCol="0">
            <a:spAutoFit/>
          </a:bodyPr>
          <a:lstStyle/>
          <a:p>
            <a:r>
              <a:rPr lang="en-US" b="1" dirty="0"/>
              <a:t>Observations and Insights – </a:t>
            </a:r>
          </a:p>
          <a:p>
            <a:pPr marL="285750" indent="-285750">
              <a:buFontTx/>
              <a:buChar char="-"/>
            </a:pPr>
            <a:r>
              <a:rPr lang="en-US" dirty="0"/>
              <a:t>Track revenue per customer metric</a:t>
            </a:r>
          </a:p>
          <a:p>
            <a:pPr marL="285750" indent="-285750">
              <a:buFontTx/>
              <a:buChar char="-"/>
            </a:pPr>
            <a:r>
              <a:rPr lang="en-US" dirty="0"/>
              <a:t>Encourage upselling of premium variants</a:t>
            </a:r>
          </a:p>
        </p:txBody>
      </p:sp>
    </p:spTree>
    <p:extLst>
      <p:ext uri="{BB962C8B-B14F-4D97-AF65-F5344CB8AC3E}">
        <p14:creationId xmlns:p14="http://schemas.microsoft.com/office/powerpoint/2010/main" val="26493015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DE98321-54FE-6F16-35AC-930ED28D0D41}"/>
              </a:ext>
            </a:extLst>
          </p:cNvPr>
          <p:cNvSpPr txBox="1"/>
          <p:nvPr/>
        </p:nvSpPr>
        <p:spPr>
          <a:xfrm>
            <a:off x="609600" y="1016635"/>
            <a:ext cx="10972800" cy="3693319"/>
          </a:xfrm>
          <a:prstGeom prst="rect">
            <a:avLst/>
          </a:prstGeom>
          <a:noFill/>
        </p:spPr>
        <p:txBody>
          <a:bodyPr wrap="square" rtlCol="0">
            <a:spAutoFit/>
          </a:bodyPr>
          <a:lstStyle/>
          <a:p>
            <a:r>
              <a:rPr lang="en-US" b="1" dirty="0"/>
              <a:t>Question 9</a:t>
            </a:r>
          </a:p>
          <a:p>
            <a:r>
              <a:rPr lang="en-US" dirty="0"/>
              <a:t>What is the average discount offered for different types of credit cards?</a:t>
            </a:r>
          </a:p>
          <a:p>
            <a:r>
              <a:rPr lang="en-US" dirty="0"/>
              <a:t>Solution query – </a:t>
            </a:r>
          </a:p>
          <a:p>
            <a:endParaRPr lang="en-US" dirty="0"/>
          </a:p>
          <a:p>
            <a:r>
              <a:rPr lang="en-US" i="1" dirty="0"/>
              <a:t>SELECT </a:t>
            </a:r>
          </a:p>
          <a:p>
            <a:r>
              <a:rPr lang="en-US" i="1" dirty="0"/>
              <a:t>    </a:t>
            </a:r>
            <a:r>
              <a:rPr lang="en-US" i="1" dirty="0" err="1"/>
              <a:t>customer_t.credit_card_type</a:t>
            </a:r>
            <a:r>
              <a:rPr lang="en-US" i="1" dirty="0"/>
              <a:t>,</a:t>
            </a:r>
          </a:p>
          <a:p>
            <a:r>
              <a:rPr lang="en-US" i="1" dirty="0"/>
              <a:t>    AVG(</a:t>
            </a:r>
            <a:r>
              <a:rPr lang="en-US" i="1" dirty="0" err="1"/>
              <a:t>order_t.discount</a:t>
            </a:r>
            <a:r>
              <a:rPr lang="en-US" i="1" dirty="0"/>
              <a:t>) AS </a:t>
            </a:r>
            <a:r>
              <a:rPr lang="en-US" i="1" dirty="0" err="1"/>
              <a:t>avg_discount</a:t>
            </a:r>
            <a:endParaRPr lang="en-US" i="1" dirty="0"/>
          </a:p>
          <a:p>
            <a:r>
              <a:rPr lang="en-US" i="1" dirty="0"/>
              <a:t>FROM order_t</a:t>
            </a:r>
          </a:p>
          <a:p>
            <a:r>
              <a:rPr lang="en-US" i="1" dirty="0"/>
              <a:t>JOIN </a:t>
            </a:r>
            <a:r>
              <a:rPr lang="en-US" i="1" dirty="0" err="1"/>
              <a:t>customer_t</a:t>
            </a:r>
            <a:endParaRPr lang="en-US" i="1" dirty="0"/>
          </a:p>
          <a:p>
            <a:r>
              <a:rPr lang="en-US" i="1" dirty="0"/>
              <a:t>    ON </a:t>
            </a:r>
            <a:r>
              <a:rPr lang="en-US" i="1" dirty="0" err="1"/>
              <a:t>order_t.customer_id</a:t>
            </a:r>
            <a:r>
              <a:rPr lang="en-US" i="1" dirty="0"/>
              <a:t> = </a:t>
            </a:r>
            <a:r>
              <a:rPr lang="en-US" i="1" dirty="0" err="1"/>
              <a:t>customer_t.customer_id</a:t>
            </a:r>
            <a:endParaRPr lang="en-US" i="1" dirty="0"/>
          </a:p>
          <a:p>
            <a:r>
              <a:rPr lang="en-US" i="1" dirty="0"/>
              <a:t>GROUP BY </a:t>
            </a:r>
            <a:r>
              <a:rPr lang="en-US" i="1" dirty="0" err="1"/>
              <a:t>customer_t.credit_card_type</a:t>
            </a:r>
            <a:endParaRPr lang="en-US" i="1" dirty="0"/>
          </a:p>
          <a:p>
            <a:r>
              <a:rPr lang="en-US" i="1" dirty="0"/>
              <a:t>ORDER BY </a:t>
            </a:r>
            <a:r>
              <a:rPr lang="en-US" i="1" dirty="0" err="1"/>
              <a:t>avg_discount</a:t>
            </a:r>
            <a:r>
              <a:rPr lang="en-US" i="1" dirty="0"/>
              <a:t> DESC;</a:t>
            </a:r>
          </a:p>
          <a:p>
            <a:endParaRPr lang="en-US" dirty="0"/>
          </a:p>
        </p:txBody>
      </p:sp>
    </p:spTree>
    <p:extLst>
      <p:ext uri="{BB962C8B-B14F-4D97-AF65-F5344CB8AC3E}">
        <p14:creationId xmlns:p14="http://schemas.microsoft.com/office/powerpoint/2010/main" val="31558896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717D4F-CEB1-B0CA-EEE6-08C64DF4ADC7}"/>
              </a:ext>
            </a:extLst>
          </p:cNvPr>
          <p:cNvSpPr txBox="1"/>
          <p:nvPr/>
        </p:nvSpPr>
        <p:spPr>
          <a:xfrm>
            <a:off x="629920" y="690880"/>
            <a:ext cx="10952480" cy="1477328"/>
          </a:xfrm>
          <a:prstGeom prst="rect">
            <a:avLst/>
          </a:prstGeom>
          <a:noFill/>
        </p:spPr>
        <p:txBody>
          <a:bodyPr wrap="square" rtlCol="0">
            <a:spAutoFit/>
          </a:bodyPr>
          <a:lstStyle/>
          <a:p>
            <a:r>
              <a:rPr lang="en-US" b="1" dirty="0"/>
              <a:t>Observations and Insights – </a:t>
            </a:r>
          </a:p>
          <a:p>
            <a:pPr marL="285750" indent="-285750">
              <a:buFontTx/>
              <a:buChar char="-"/>
            </a:pPr>
            <a:r>
              <a:rPr lang="en-US" dirty="0"/>
              <a:t>The avg discounts for all the credit cards lies between 0.58 – 0.64 range</a:t>
            </a:r>
          </a:p>
          <a:p>
            <a:pPr marL="285750" indent="-285750">
              <a:buFontTx/>
              <a:buChar char="-"/>
            </a:pPr>
            <a:r>
              <a:rPr lang="en-US" dirty="0"/>
              <a:t>Unequal discounts may affect profitability</a:t>
            </a:r>
          </a:p>
          <a:p>
            <a:pPr marL="285750" indent="-285750">
              <a:buFontTx/>
              <a:buChar char="-"/>
            </a:pPr>
            <a:r>
              <a:rPr lang="en-US" dirty="0"/>
              <a:t>Standardize discounts to avoid bias </a:t>
            </a:r>
          </a:p>
          <a:p>
            <a:pPr marL="285750" indent="-285750">
              <a:buFontTx/>
              <a:buChar char="-"/>
            </a:pPr>
            <a:endParaRPr lang="en-US" dirty="0"/>
          </a:p>
        </p:txBody>
      </p:sp>
      <p:pic>
        <p:nvPicPr>
          <p:cNvPr id="3" name="Picture 2">
            <a:extLst>
              <a:ext uri="{FF2B5EF4-FFF2-40B4-BE49-F238E27FC236}">
                <a16:creationId xmlns:a16="http://schemas.microsoft.com/office/drawing/2014/main" id="{AC41B800-436F-160A-BDCF-4926591E9C75}"/>
              </a:ext>
            </a:extLst>
          </p:cNvPr>
          <p:cNvPicPr>
            <a:picLocks noChangeAspect="1"/>
          </p:cNvPicPr>
          <p:nvPr/>
        </p:nvPicPr>
        <p:blipFill>
          <a:blip r:embed="rId2"/>
          <a:stretch>
            <a:fillRect/>
          </a:stretch>
        </p:blipFill>
        <p:spPr>
          <a:xfrm>
            <a:off x="360396" y="2854960"/>
            <a:ext cx="11471208" cy="3383379"/>
          </a:xfrm>
          <a:prstGeom prst="rect">
            <a:avLst/>
          </a:prstGeom>
        </p:spPr>
      </p:pic>
    </p:spTree>
    <p:extLst>
      <p:ext uri="{BB962C8B-B14F-4D97-AF65-F5344CB8AC3E}">
        <p14:creationId xmlns:p14="http://schemas.microsoft.com/office/powerpoint/2010/main" val="16472784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3D802C8-7E84-5C1B-635F-E40483898CCA}"/>
              </a:ext>
            </a:extLst>
          </p:cNvPr>
          <p:cNvSpPr txBox="1"/>
          <p:nvPr/>
        </p:nvSpPr>
        <p:spPr>
          <a:xfrm>
            <a:off x="619125" y="1076960"/>
            <a:ext cx="10953750" cy="3416320"/>
          </a:xfrm>
          <a:prstGeom prst="rect">
            <a:avLst/>
          </a:prstGeom>
          <a:noFill/>
        </p:spPr>
        <p:txBody>
          <a:bodyPr wrap="square" rtlCol="0">
            <a:spAutoFit/>
          </a:bodyPr>
          <a:lstStyle/>
          <a:p>
            <a:r>
              <a:rPr lang="en-US" b="1" dirty="0"/>
              <a:t>Question 10 </a:t>
            </a:r>
          </a:p>
          <a:p>
            <a:r>
              <a:rPr lang="en-US" dirty="0"/>
              <a:t>What is the average time taken to ship the placed orders for each quarter?</a:t>
            </a:r>
          </a:p>
          <a:p>
            <a:r>
              <a:rPr lang="en-US" dirty="0"/>
              <a:t>Solution query – </a:t>
            </a:r>
          </a:p>
          <a:p>
            <a:endParaRPr lang="en-US" dirty="0"/>
          </a:p>
          <a:p>
            <a:r>
              <a:rPr lang="en-US" i="1" dirty="0"/>
              <a:t>SELECT     </a:t>
            </a:r>
          </a:p>
          <a:p>
            <a:r>
              <a:rPr lang="en-US" i="1" dirty="0"/>
              <a:t>    </a:t>
            </a:r>
            <a:r>
              <a:rPr lang="en-US" i="1" dirty="0" err="1"/>
              <a:t>quarter_number</a:t>
            </a:r>
            <a:r>
              <a:rPr lang="en-US" i="1" dirty="0"/>
              <a:t>,    </a:t>
            </a:r>
          </a:p>
          <a:p>
            <a:r>
              <a:rPr lang="en-US" i="1" dirty="0"/>
              <a:t>    AVG(        </a:t>
            </a:r>
          </a:p>
          <a:p>
            <a:r>
              <a:rPr lang="en-US" i="1" dirty="0"/>
              <a:t>       DATEDIFF(</a:t>
            </a:r>
            <a:r>
              <a:rPr lang="en-US" i="1" dirty="0" err="1"/>
              <a:t>ship_date</a:t>
            </a:r>
            <a:r>
              <a:rPr lang="en-US" i="1" dirty="0"/>
              <a:t>, </a:t>
            </a:r>
            <a:r>
              <a:rPr lang="en-US" i="1" dirty="0" err="1"/>
              <a:t>order_date</a:t>
            </a:r>
            <a:r>
              <a:rPr lang="en-US" i="1" dirty="0"/>
              <a:t>)    </a:t>
            </a:r>
          </a:p>
          <a:p>
            <a:r>
              <a:rPr lang="en-US" i="1" dirty="0"/>
              <a:t>    ) AS </a:t>
            </a:r>
            <a:r>
              <a:rPr lang="en-US" i="1" dirty="0" err="1"/>
              <a:t>avg_shipping_days</a:t>
            </a:r>
            <a:endParaRPr lang="en-US" i="1" dirty="0"/>
          </a:p>
          <a:p>
            <a:r>
              <a:rPr lang="en-US" i="1" dirty="0"/>
              <a:t>FROM order_t</a:t>
            </a:r>
          </a:p>
          <a:p>
            <a:r>
              <a:rPr lang="en-US" i="1" dirty="0"/>
              <a:t>GROUP BY </a:t>
            </a:r>
            <a:r>
              <a:rPr lang="en-US" i="1" dirty="0" err="1"/>
              <a:t>quarter_number</a:t>
            </a:r>
            <a:endParaRPr lang="en-US" i="1" dirty="0"/>
          </a:p>
          <a:p>
            <a:r>
              <a:rPr lang="en-US" i="1" dirty="0"/>
              <a:t>ORDER BY </a:t>
            </a:r>
            <a:r>
              <a:rPr lang="en-US" i="1" dirty="0" err="1"/>
              <a:t>quarter_number</a:t>
            </a:r>
            <a:r>
              <a:rPr lang="en-US" i="1" dirty="0"/>
              <a:t>;</a:t>
            </a:r>
          </a:p>
        </p:txBody>
      </p:sp>
    </p:spTree>
    <p:extLst>
      <p:ext uri="{BB962C8B-B14F-4D97-AF65-F5344CB8AC3E}">
        <p14:creationId xmlns:p14="http://schemas.microsoft.com/office/powerpoint/2010/main" val="11168987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F4D2376-D9C7-CF14-9F7F-1C54FA08A7A6}"/>
              </a:ext>
            </a:extLst>
          </p:cNvPr>
          <p:cNvPicPr>
            <a:picLocks noChangeAspect="1"/>
          </p:cNvPicPr>
          <p:nvPr/>
        </p:nvPicPr>
        <p:blipFill>
          <a:blip r:embed="rId2"/>
          <a:stretch>
            <a:fillRect/>
          </a:stretch>
        </p:blipFill>
        <p:spPr>
          <a:xfrm>
            <a:off x="214839" y="2600960"/>
            <a:ext cx="11762322" cy="3450853"/>
          </a:xfrm>
          <a:prstGeom prst="rect">
            <a:avLst/>
          </a:prstGeom>
        </p:spPr>
      </p:pic>
      <p:sp>
        <p:nvSpPr>
          <p:cNvPr id="3" name="TextBox 2">
            <a:extLst>
              <a:ext uri="{FF2B5EF4-FFF2-40B4-BE49-F238E27FC236}">
                <a16:creationId xmlns:a16="http://schemas.microsoft.com/office/drawing/2014/main" id="{7DCDD207-A968-D365-81C4-9137CD3CB84C}"/>
              </a:ext>
            </a:extLst>
          </p:cNvPr>
          <p:cNvSpPr txBox="1"/>
          <p:nvPr/>
        </p:nvSpPr>
        <p:spPr>
          <a:xfrm>
            <a:off x="609600" y="670560"/>
            <a:ext cx="6607514" cy="1200329"/>
          </a:xfrm>
          <a:prstGeom prst="rect">
            <a:avLst/>
          </a:prstGeom>
          <a:noFill/>
        </p:spPr>
        <p:txBody>
          <a:bodyPr wrap="none" rtlCol="0">
            <a:spAutoFit/>
          </a:bodyPr>
          <a:lstStyle/>
          <a:p>
            <a:r>
              <a:rPr lang="en-US" b="1" dirty="0"/>
              <a:t>Observations and Insights – </a:t>
            </a:r>
          </a:p>
          <a:p>
            <a:pPr marL="285750" indent="-285750">
              <a:buFontTx/>
              <a:buChar char="-"/>
            </a:pPr>
            <a:r>
              <a:rPr lang="en-US" dirty="0"/>
              <a:t>Avg shipping days seen to increased while moving to next quarter</a:t>
            </a:r>
          </a:p>
          <a:p>
            <a:pPr marL="285750" indent="-285750">
              <a:buFontTx/>
              <a:buChar char="-"/>
            </a:pPr>
            <a:r>
              <a:rPr lang="en-US" dirty="0"/>
              <a:t>Shipping days should be constant with each quarter</a:t>
            </a:r>
          </a:p>
          <a:p>
            <a:pPr marL="285750" indent="-285750">
              <a:buFontTx/>
              <a:buChar char="-"/>
            </a:pPr>
            <a:r>
              <a:rPr lang="en-US" dirty="0"/>
              <a:t>Higher delivery time may lead to poor feedback</a:t>
            </a:r>
          </a:p>
        </p:txBody>
      </p:sp>
    </p:spTree>
    <p:extLst>
      <p:ext uri="{BB962C8B-B14F-4D97-AF65-F5344CB8AC3E}">
        <p14:creationId xmlns:p14="http://schemas.microsoft.com/office/powerpoint/2010/main" val="32503021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1766</TotalTime>
  <Words>2174</Words>
  <Application>Microsoft Office PowerPoint</Application>
  <PresentationFormat>Widescreen</PresentationFormat>
  <Paragraphs>298</Paragraphs>
  <Slides>27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aditya shinde</dc:creator>
  <cp:lastModifiedBy>aditya shinde</cp:lastModifiedBy>
  <cp:revision>4</cp:revision>
  <dcterms:created xsi:type="dcterms:W3CDTF">2026-01-31T11:44:58Z</dcterms:created>
  <dcterms:modified xsi:type="dcterms:W3CDTF">2026-02-01T17:11:02Z</dcterms:modified>
</cp:coreProperties>
</file>